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e32c70432f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g3e32c70432f_2_75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e32c70432f_2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g3e32c70432f_2_89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e32c70432f_2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g3e32c70432f_2_112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e32c70432f_2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g3e32c70432f_2_156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e32c70432f_2_2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g3e32c70432f_2_209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e32c70432f_2_2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g3e32c70432f_2_232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e32c70432f_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g3e32c70432f_4_0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e32c70432f_2_3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g3e32c70432f_2_302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e32c70432f_2_3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g3e32c70432f_2_350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3e32c70432f_2_3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g3e32c70432f_2_379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e32c70432f_2_4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g3e32c70432f_2_415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g3e32c70432f_2_4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4" name="Google Shape;504;g3e32c70432f_2_437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ctrTitle"/>
          </p:nvPr>
        </p:nvSpPr>
        <p:spPr>
          <a:xfrm>
            <a:off x="514484" y="1597819"/>
            <a:ext cx="5830818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subTitle"/>
          </p:nvPr>
        </p:nvSpPr>
        <p:spPr>
          <a:xfrm>
            <a:off x="1028968" y="2914650"/>
            <a:ext cx="480185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342989" y="205978"/>
            <a:ext cx="617380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342989" y="1200150"/>
            <a:ext cx="6173808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541876" y="3305175"/>
            <a:ext cx="5830818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541876" y="2180035"/>
            <a:ext cx="5830818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342989" y="205978"/>
            <a:ext cx="617380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>
            <a:off x="342989" y="1200150"/>
            <a:ext cx="3029739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1" name="Google Shape;81;p18"/>
          <p:cNvSpPr txBox="1"/>
          <p:nvPr>
            <p:ph idx="2" type="body"/>
          </p:nvPr>
        </p:nvSpPr>
        <p:spPr>
          <a:xfrm>
            <a:off x="3487058" y="1200150"/>
            <a:ext cx="3029739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342989" y="205978"/>
            <a:ext cx="617380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342989" y="1151335"/>
            <a:ext cx="3030930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8" name="Google Shape;88;p19"/>
          <p:cNvSpPr txBox="1"/>
          <p:nvPr>
            <p:ph idx="2" type="body"/>
          </p:nvPr>
        </p:nvSpPr>
        <p:spPr>
          <a:xfrm>
            <a:off x="342989" y="1631156"/>
            <a:ext cx="3030930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9" name="Google Shape;89;p19"/>
          <p:cNvSpPr txBox="1"/>
          <p:nvPr>
            <p:ph idx="3" type="body"/>
          </p:nvPr>
        </p:nvSpPr>
        <p:spPr>
          <a:xfrm>
            <a:off x="3484676" y="1151335"/>
            <a:ext cx="303212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0" name="Google Shape;90;p19"/>
          <p:cNvSpPr txBox="1"/>
          <p:nvPr>
            <p:ph idx="4" type="body"/>
          </p:nvPr>
        </p:nvSpPr>
        <p:spPr>
          <a:xfrm>
            <a:off x="3484676" y="1631156"/>
            <a:ext cx="303212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42989" y="205978"/>
            <a:ext cx="617380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42989" y="204788"/>
            <a:ext cx="2256822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2681986" y="204788"/>
            <a:ext cx="3834811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342989" y="1076325"/>
            <a:ext cx="2256822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344566" y="3600450"/>
            <a:ext cx="4115872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344566" y="459581"/>
            <a:ext cx="4115872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344566" y="4025503"/>
            <a:ext cx="4115872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42989" y="205978"/>
            <a:ext cx="617380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732657" y="-189518"/>
            <a:ext cx="3394472" cy="617380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3550749" y="1628574"/>
            <a:ext cx="4388644" cy="154345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406680" y="142287"/>
            <a:ext cx="4388644" cy="451602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89" y="205978"/>
            <a:ext cx="617380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89" y="1200150"/>
            <a:ext cx="6173808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www.figma.com/board/vo33jq26ihmIO3jc0QYsqe/Slot-Game-Screen-Research-Board---Auto-Classification?node-id=0-1&amp;p=f&amp;t=BI809hMe2d9xsFCx-0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25"/>
          <p:cNvSpPr txBox="1"/>
          <p:nvPr/>
        </p:nvSpPr>
        <p:spPr>
          <a:xfrm>
            <a:off x="0" y="0"/>
            <a:ext cx="240093" cy="514350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25"/>
          <p:cNvSpPr txBox="1"/>
          <p:nvPr/>
        </p:nvSpPr>
        <p:spPr>
          <a:xfrm>
            <a:off x="240093" y="4526280"/>
            <a:ext cx="8904003" cy="61722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5"/>
          <p:cNvSpPr txBox="1"/>
          <p:nvPr/>
        </p:nvSpPr>
        <p:spPr>
          <a:xfrm>
            <a:off x="685979" y="960120"/>
            <a:ext cx="7888754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4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Slot Classifier</a:t>
            </a:r>
            <a:endParaRPr sz="1100"/>
          </a:p>
        </p:txBody>
      </p:sp>
      <p:sp>
        <p:nvSpPr>
          <p:cNvPr id="133" name="Google Shape;133;p25"/>
          <p:cNvSpPr txBox="1"/>
          <p:nvPr/>
        </p:nvSpPr>
        <p:spPr>
          <a:xfrm>
            <a:off x="685979" y="2023110"/>
            <a:ext cx="2606719" cy="51435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25"/>
          <p:cNvSpPr txBox="1"/>
          <p:nvPr/>
        </p:nvSpPr>
        <p:spPr>
          <a:xfrm>
            <a:off x="685979" y="2125980"/>
            <a:ext cx="7545765" cy="44577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7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競品影片自動分析工具</a:t>
            </a:r>
            <a:endParaRPr sz="1100"/>
          </a:p>
        </p:txBody>
      </p:sp>
      <p:sp>
        <p:nvSpPr>
          <p:cNvPr id="135" name="Google Shape;135;p25"/>
          <p:cNvSpPr txBox="1"/>
          <p:nvPr/>
        </p:nvSpPr>
        <p:spPr>
          <a:xfrm>
            <a:off x="685979" y="2640330"/>
            <a:ext cx="754576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000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自動截圖分類  ·  競品報告生成  ·  Figma Board  ·  Fileserver 備份</a:t>
            </a:r>
            <a:endParaRPr sz="1100"/>
          </a:p>
        </p:txBody>
      </p:sp>
      <p:sp>
        <p:nvSpPr>
          <p:cNvPr id="136" name="Google Shape;136;p25"/>
          <p:cNvSpPr txBox="1"/>
          <p:nvPr/>
        </p:nvSpPr>
        <p:spPr>
          <a:xfrm>
            <a:off x="685979" y="4354830"/>
            <a:ext cx="617380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內部分享  ·  2026  ·  PG / Slot Team</a:t>
            </a:r>
            <a:endParaRPr sz="1100"/>
          </a:p>
        </p:txBody>
      </p:sp>
      <p:sp>
        <p:nvSpPr>
          <p:cNvPr id="137" name="Google Shape;137;p25"/>
          <p:cNvSpPr txBox="1"/>
          <p:nvPr/>
        </p:nvSpPr>
        <p:spPr>
          <a:xfrm>
            <a:off x="7634942" y="150876"/>
            <a:ext cx="1166164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5"/>
          <p:cNvSpPr txBox="1"/>
          <p:nvPr/>
        </p:nvSpPr>
        <p:spPr>
          <a:xfrm>
            <a:off x="7648662" y="164592"/>
            <a:ext cx="1138725" cy="246888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0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v 1.0</a:t>
            </a:r>
            <a:endParaRPr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6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26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26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26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工具目的</a:t>
            </a:r>
            <a:endParaRPr sz="1100"/>
          </a:p>
        </p:txBody>
      </p:sp>
      <p:sp>
        <p:nvSpPr>
          <p:cNvPr id="147" name="Google Shape;147;p26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為什麼需要 Slot Classifier？</a:t>
            </a:r>
            <a:endParaRPr sz="1100"/>
          </a:p>
        </p:txBody>
      </p:sp>
      <p:sp>
        <p:nvSpPr>
          <p:cNvPr id="148" name="Google Shape;148;p26"/>
          <p:cNvSpPr txBox="1"/>
          <p:nvPr/>
        </p:nvSpPr>
        <p:spPr>
          <a:xfrm>
            <a:off x="342989" y="1014984"/>
            <a:ext cx="8437537" cy="106299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26"/>
          <p:cNvSpPr txBox="1"/>
          <p:nvPr/>
        </p:nvSpPr>
        <p:spPr>
          <a:xfrm>
            <a:off x="342989" y="1014984"/>
            <a:ext cx="48019" cy="106299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6"/>
          <p:cNvSpPr txBox="1"/>
          <p:nvPr/>
        </p:nvSpPr>
        <p:spPr>
          <a:xfrm>
            <a:off x="514484" y="1357884"/>
            <a:ext cx="377288" cy="37719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/>
          </a:p>
        </p:txBody>
      </p:sp>
      <p:sp>
        <p:nvSpPr>
          <p:cNvPr id="151" name="Google Shape;151;p26"/>
          <p:cNvSpPr txBox="1"/>
          <p:nvPr/>
        </p:nvSpPr>
        <p:spPr>
          <a:xfrm>
            <a:off x="1063267" y="1138428"/>
            <a:ext cx="727137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自動化截圖分類</a:t>
            </a:r>
            <a:endParaRPr sz="1100"/>
          </a:p>
        </p:txBody>
      </p:sp>
      <p:sp>
        <p:nvSpPr>
          <p:cNvPr id="152" name="Google Shape;152;p26"/>
          <p:cNvSpPr txBox="1"/>
          <p:nvPr/>
        </p:nvSpPr>
        <p:spPr>
          <a:xfrm>
            <a:off x="1063267" y="1460754"/>
            <a:ext cx="7271374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從競品影片自動擷取關鍵幀，分類為 Loading、Basegame、Transition、Feature、BigWin、Result 六大類別，省去人工逐幀整理。</a:t>
            </a:r>
            <a:endParaRPr sz="1100"/>
          </a:p>
        </p:txBody>
      </p:sp>
      <p:sp>
        <p:nvSpPr>
          <p:cNvPr id="153" name="Google Shape;153;p26"/>
          <p:cNvSpPr txBox="1"/>
          <p:nvPr/>
        </p:nvSpPr>
        <p:spPr>
          <a:xfrm>
            <a:off x="342989" y="2215134"/>
            <a:ext cx="8437537" cy="106299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6"/>
          <p:cNvSpPr txBox="1"/>
          <p:nvPr/>
        </p:nvSpPr>
        <p:spPr>
          <a:xfrm>
            <a:off x="342989" y="2215134"/>
            <a:ext cx="48019" cy="106299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26"/>
          <p:cNvSpPr txBox="1"/>
          <p:nvPr/>
        </p:nvSpPr>
        <p:spPr>
          <a:xfrm>
            <a:off x="514484" y="2558034"/>
            <a:ext cx="377288" cy="37719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/>
          </a:p>
        </p:txBody>
      </p:sp>
      <p:sp>
        <p:nvSpPr>
          <p:cNvPr id="156" name="Google Shape;156;p26"/>
          <p:cNvSpPr txBox="1"/>
          <p:nvPr/>
        </p:nvSpPr>
        <p:spPr>
          <a:xfrm>
            <a:off x="1063267" y="2338578"/>
            <a:ext cx="727137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輸出標準化競品資料</a:t>
            </a:r>
            <a:endParaRPr sz="1100"/>
          </a:p>
        </p:txBody>
      </p:sp>
      <p:sp>
        <p:nvSpPr>
          <p:cNvPr id="157" name="Google Shape;157;p26"/>
          <p:cNvSpPr txBox="1"/>
          <p:nvPr/>
        </p:nvSpPr>
        <p:spPr>
          <a:xfrm>
            <a:off x="1063267" y="2660904"/>
            <a:ext cx="7271374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每款遊戲生成分類截圖資料夾、CSV 統計表、HTML 競品分析報告，格式一致，可直接用於設計參考與策劃文件。</a:t>
            </a:r>
            <a:endParaRPr sz="1100"/>
          </a:p>
        </p:txBody>
      </p:sp>
      <p:sp>
        <p:nvSpPr>
          <p:cNvPr id="158" name="Google Shape;158;p26"/>
          <p:cNvSpPr txBox="1"/>
          <p:nvPr/>
        </p:nvSpPr>
        <p:spPr>
          <a:xfrm>
            <a:off x="342989" y="3415284"/>
            <a:ext cx="8437537" cy="106299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6"/>
          <p:cNvSpPr txBox="1"/>
          <p:nvPr/>
        </p:nvSpPr>
        <p:spPr>
          <a:xfrm>
            <a:off x="342989" y="3415284"/>
            <a:ext cx="48019" cy="106299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6"/>
          <p:cNvSpPr txBox="1"/>
          <p:nvPr/>
        </p:nvSpPr>
        <p:spPr>
          <a:xfrm>
            <a:off x="514484" y="3758184"/>
            <a:ext cx="377288" cy="37719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/>
          </a:p>
        </p:txBody>
      </p:sp>
      <p:sp>
        <p:nvSpPr>
          <p:cNvPr id="161" name="Google Shape;161;p26"/>
          <p:cNvSpPr txBox="1"/>
          <p:nvPr/>
        </p:nvSpPr>
        <p:spPr>
          <a:xfrm>
            <a:off x="1063267" y="3538728"/>
            <a:ext cx="727137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整合 Figma 與 Fileserver</a:t>
            </a:r>
            <a:endParaRPr sz="1100"/>
          </a:p>
        </p:txBody>
      </p:sp>
      <p:sp>
        <p:nvSpPr>
          <p:cNvPr id="162" name="Google Shape;162;p26"/>
          <p:cNvSpPr txBox="1"/>
          <p:nvPr/>
        </p:nvSpPr>
        <p:spPr>
          <a:xfrm>
            <a:off x="1063267" y="3861054"/>
            <a:ext cx="7271374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一鍵匯出 Figma Research Board，並自動備份至公司 Fileserver（AI_survey 資料夾），建立可查詢的競品資料庫。</a:t>
            </a:r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7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7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7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7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輸入與輸出</a:t>
            </a:r>
            <a:endParaRPr sz="1100"/>
          </a:p>
        </p:txBody>
      </p:sp>
      <p:sp>
        <p:nvSpPr>
          <p:cNvPr id="171" name="Google Shape;171;p27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Input / Output</a:t>
            </a:r>
            <a:endParaRPr sz="1100"/>
          </a:p>
        </p:txBody>
      </p:sp>
      <p:sp>
        <p:nvSpPr>
          <p:cNvPr id="172" name="Google Shape;172;p27"/>
          <p:cNvSpPr txBox="1"/>
          <p:nvPr/>
        </p:nvSpPr>
        <p:spPr>
          <a:xfrm>
            <a:off x="342989" y="960120"/>
            <a:ext cx="3841480" cy="397764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7"/>
          <p:cNvSpPr txBox="1"/>
          <p:nvPr/>
        </p:nvSpPr>
        <p:spPr>
          <a:xfrm>
            <a:off x="342989" y="960120"/>
            <a:ext cx="3841480" cy="377190"/>
          </a:xfrm>
          <a:prstGeom prst="rect">
            <a:avLst/>
          </a:prstGeom>
          <a:solidFill>
            <a:srgbClr val="1E345C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7"/>
          <p:cNvSpPr txBox="1"/>
          <p:nvPr/>
        </p:nvSpPr>
        <p:spPr>
          <a:xfrm>
            <a:off x="514484" y="994410"/>
            <a:ext cx="3498491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INPUT  📥</a:t>
            </a:r>
            <a:endParaRPr sz="1100"/>
          </a:p>
        </p:txBody>
      </p:sp>
      <p:sp>
        <p:nvSpPr>
          <p:cNvPr id="175" name="Google Shape;175;p27"/>
          <p:cNvSpPr txBox="1"/>
          <p:nvPr/>
        </p:nvSpPr>
        <p:spPr>
          <a:xfrm>
            <a:off x="514484" y="1426464"/>
            <a:ext cx="3498491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E8F4FD"/>
                </a:solidFill>
                <a:latin typeface="Consolas"/>
                <a:ea typeface="Consolas"/>
                <a:cs typeface="Consolas"/>
                <a:sym typeface="Consolas"/>
              </a:rPr>
              <a:t>project/input_videos/</a:t>
            </a:r>
            <a:endParaRPr sz="1100"/>
          </a:p>
        </p:txBody>
      </p:sp>
      <p:sp>
        <p:nvSpPr>
          <p:cNvPr id="176" name="Google Shape;176;p27"/>
          <p:cNvSpPr txBox="1"/>
          <p:nvPr/>
        </p:nvSpPr>
        <p:spPr>
          <a:xfrm>
            <a:off x="514484" y="1851660"/>
            <a:ext cx="48019" cy="192024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7"/>
          <p:cNvSpPr txBox="1"/>
          <p:nvPr/>
        </p:nvSpPr>
        <p:spPr>
          <a:xfrm>
            <a:off x="651680" y="1783080"/>
            <a:ext cx="336129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競品遊戲影片（.mp4 格式）</a:t>
            </a:r>
            <a:endParaRPr sz="1100"/>
          </a:p>
        </p:txBody>
      </p:sp>
      <p:sp>
        <p:nvSpPr>
          <p:cNvPr id="178" name="Google Shape;178;p27"/>
          <p:cNvSpPr txBox="1"/>
          <p:nvPr/>
        </p:nvSpPr>
        <p:spPr>
          <a:xfrm>
            <a:off x="514484" y="2318004"/>
            <a:ext cx="48019" cy="192024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7"/>
          <p:cNvSpPr txBox="1"/>
          <p:nvPr/>
        </p:nvSpPr>
        <p:spPr>
          <a:xfrm>
            <a:off x="651680" y="2249424"/>
            <a:ext cx="336129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支援多款遊戲一次批次處理</a:t>
            </a:r>
            <a:endParaRPr sz="1100"/>
          </a:p>
        </p:txBody>
      </p:sp>
      <p:sp>
        <p:nvSpPr>
          <p:cNvPr id="180" name="Google Shape;180;p27"/>
          <p:cNvSpPr txBox="1"/>
          <p:nvPr/>
        </p:nvSpPr>
        <p:spPr>
          <a:xfrm>
            <a:off x="514484" y="2784347"/>
            <a:ext cx="48019" cy="192024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/>
          <p:cNvSpPr txBox="1"/>
          <p:nvPr/>
        </p:nvSpPr>
        <p:spPr>
          <a:xfrm>
            <a:off x="651680" y="2715768"/>
            <a:ext cx="336129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可搭配自動 ROI 偵測（直/橫式畫面）</a:t>
            </a:r>
            <a:endParaRPr sz="1100"/>
          </a:p>
        </p:txBody>
      </p:sp>
      <p:sp>
        <p:nvSpPr>
          <p:cNvPr id="182" name="Google Shape;182;p27"/>
          <p:cNvSpPr txBox="1"/>
          <p:nvPr/>
        </p:nvSpPr>
        <p:spPr>
          <a:xfrm>
            <a:off x="514484" y="3250692"/>
            <a:ext cx="48019" cy="192024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/>
          <p:cNvSpPr txBox="1"/>
          <p:nvPr/>
        </p:nvSpPr>
        <p:spPr>
          <a:xfrm>
            <a:off x="651680" y="3182112"/>
            <a:ext cx="336129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可指定 GameName 自訂輸出資料夾名稱</a:t>
            </a:r>
            <a:endParaRPr sz="1100"/>
          </a:p>
        </p:txBody>
      </p:sp>
      <p:sp>
        <p:nvSpPr>
          <p:cNvPr id="184" name="Google Shape;184;p27"/>
          <p:cNvSpPr txBox="1"/>
          <p:nvPr/>
        </p:nvSpPr>
        <p:spPr>
          <a:xfrm>
            <a:off x="4355964" y="2606040"/>
            <a:ext cx="445886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1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sz="1100"/>
          </a:p>
        </p:txBody>
      </p:sp>
      <p:sp>
        <p:nvSpPr>
          <p:cNvPr id="185" name="Google Shape;185;p27"/>
          <p:cNvSpPr txBox="1"/>
          <p:nvPr/>
        </p:nvSpPr>
        <p:spPr>
          <a:xfrm>
            <a:off x="4939046" y="960120"/>
            <a:ext cx="3841480" cy="39776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7"/>
          <p:cNvSpPr txBox="1"/>
          <p:nvPr/>
        </p:nvSpPr>
        <p:spPr>
          <a:xfrm>
            <a:off x="4939046" y="960120"/>
            <a:ext cx="3841480" cy="37719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7"/>
          <p:cNvSpPr txBox="1"/>
          <p:nvPr/>
        </p:nvSpPr>
        <p:spPr>
          <a:xfrm>
            <a:off x="5110541" y="994410"/>
            <a:ext cx="3498491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OUTPUT  📤</a:t>
            </a:r>
            <a:endParaRPr sz="1100"/>
          </a:p>
        </p:txBody>
      </p:sp>
      <p:sp>
        <p:nvSpPr>
          <p:cNvPr id="188" name="Google Shape;188;p27"/>
          <p:cNvSpPr txBox="1"/>
          <p:nvPr/>
        </p:nvSpPr>
        <p:spPr>
          <a:xfrm>
            <a:off x="5007644" y="1440180"/>
            <a:ext cx="288111" cy="288036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7"/>
          <p:cNvSpPr txBox="1"/>
          <p:nvPr/>
        </p:nvSpPr>
        <p:spPr>
          <a:xfrm>
            <a:off x="5007644" y="1440180"/>
            <a:ext cx="288111" cy="288036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📁</a:t>
            </a:r>
            <a:endParaRPr sz="1100"/>
          </a:p>
        </p:txBody>
      </p:sp>
      <p:sp>
        <p:nvSpPr>
          <p:cNvPr id="190" name="Google Shape;190;p27"/>
          <p:cNvSpPr txBox="1"/>
          <p:nvPr/>
        </p:nvSpPr>
        <p:spPr>
          <a:xfrm>
            <a:off x="5405512" y="1447038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截圖分類資料夾</a:t>
            </a:r>
            <a:endParaRPr sz="1100"/>
          </a:p>
        </p:txBody>
      </p:sp>
      <p:sp>
        <p:nvSpPr>
          <p:cNvPr id="191" name="Google Shape;191;p27"/>
          <p:cNvSpPr txBox="1"/>
          <p:nvPr/>
        </p:nvSpPr>
        <p:spPr>
          <a:xfrm>
            <a:off x="5405512" y="1645920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Loading / Basegame / Feature / BigWin…</a:t>
            </a:r>
            <a:endParaRPr sz="1100"/>
          </a:p>
        </p:txBody>
      </p:sp>
      <p:sp>
        <p:nvSpPr>
          <p:cNvPr id="192" name="Google Shape;192;p27"/>
          <p:cNvSpPr txBox="1"/>
          <p:nvPr/>
        </p:nvSpPr>
        <p:spPr>
          <a:xfrm>
            <a:off x="5007644" y="2091690"/>
            <a:ext cx="288111" cy="28803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7"/>
          <p:cNvSpPr txBox="1"/>
          <p:nvPr/>
        </p:nvSpPr>
        <p:spPr>
          <a:xfrm>
            <a:off x="5007644" y="2091690"/>
            <a:ext cx="288111" cy="28803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📋</a:t>
            </a:r>
            <a:endParaRPr sz="1100"/>
          </a:p>
        </p:txBody>
      </p:sp>
      <p:sp>
        <p:nvSpPr>
          <p:cNvPr id="194" name="Google Shape;194;p27"/>
          <p:cNvSpPr txBox="1"/>
          <p:nvPr/>
        </p:nvSpPr>
        <p:spPr>
          <a:xfrm>
            <a:off x="5405512" y="2098547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classification_result.csv</a:t>
            </a:r>
            <a:endParaRPr sz="1100"/>
          </a:p>
        </p:txBody>
      </p:sp>
      <p:sp>
        <p:nvSpPr>
          <p:cNvPr id="195" name="Google Shape;195;p27"/>
          <p:cNvSpPr txBox="1"/>
          <p:nvPr/>
        </p:nvSpPr>
        <p:spPr>
          <a:xfrm>
            <a:off x="5405512" y="2297429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每幀分類標籤與信心值</a:t>
            </a:r>
            <a:endParaRPr sz="1100"/>
          </a:p>
        </p:txBody>
      </p:sp>
      <p:sp>
        <p:nvSpPr>
          <p:cNvPr id="196" name="Google Shape;196;p27"/>
          <p:cNvSpPr txBox="1"/>
          <p:nvPr/>
        </p:nvSpPr>
        <p:spPr>
          <a:xfrm>
            <a:off x="5007644" y="2743200"/>
            <a:ext cx="288111" cy="28803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7"/>
          <p:cNvSpPr txBox="1"/>
          <p:nvPr/>
        </p:nvSpPr>
        <p:spPr>
          <a:xfrm>
            <a:off x="5007644" y="2743200"/>
            <a:ext cx="288111" cy="28803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📄</a:t>
            </a:r>
            <a:endParaRPr sz="1100"/>
          </a:p>
        </p:txBody>
      </p:sp>
      <p:sp>
        <p:nvSpPr>
          <p:cNvPr id="198" name="Google Shape;198;p27"/>
          <p:cNvSpPr txBox="1"/>
          <p:nvPr/>
        </p:nvSpPr>
        <p:spPr>
          <a:xfrm>
            <a:off x="5405512" y="2750058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report.html</a:t>
            </a:r>
            <a:endParaRPr sz="1100"/>
          </a:p>
        </p:txBody>
      </p:sp>
      <p:sp>
        <p:nvSpPr>
          <p:cNvPr id="199" name="Google Shape;199;p27"/>
          <p:cNvSpPr txBox="1"/>
          <p:nvPr/>
        </p:nvSpPr>
        <p:spPr>
          <a:xfrm>
            <a:off x="5405512" y="2948940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Claude 生成競品分析報告</a:t>
            </a:r>
            <a:endParaRPr sz="1100"/>
          </a:p>
        </p:txBody>
      </p:sp>
      <p:sp>
        <p:nvSpPr>
          <p:cNvPr id="200" name="Google Shape;200;p27"/>
          <p:cNvSpPr txBox="1"/>
          <p:nvPr/>
        </p:nvSpPr>
        <p:spPr>
          <a:xfrm>
            <a:off x="5007644" y="3394709"/>
            <a:ext cx="288111" cy="28803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7"/>
          <p:cNvSpPr txBox="1"/>
          <p:nvPr/>
        </p:nvSpPr>
        <p:spPr>
          <a:xfrm>
            <a:off x="5007644" y="3394709"/>
            <a:ext cx="288111" cy="28803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🎨</a:t>
            </a:r>
            <a:endParaRPr sz="1100"/>
          </a:p>
        </p:txBody>
      </p:sp>
      <p:sp>
        <p:nvSpPr>
          <p:cNvPr id="202" name="Google Shape;202;p27"/>
          <p:cNvSpPr txBox="1"/>
          <p:nvPr/>
        </p:nvSpPr>
        <p:spPr>
          <a:xfrm>
            <a:off x="5405512" y="3401567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figma_export/</a:t>
            </a:r>
            <a:endParaRPr sz="1100"/>
          </a:p>
        </p:txBody>
      </p:sp>
      <p:sp>
        <p:nvSpPr>
          <p:cNvPr id="203" name="Google Shape;203;p27"/>
          <p:cNvSpPr txBox="1"/>
          <p:nvPr/>
        </p:nvSpPr>
        <p:spPr>
          <a:xfrm>
            <a:off x="5405512" y="3600449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Figma Research Board 匯入包</a:t>
            </a:r>
            <a:endParaRPr sz="1100"/>
          </a:p>
        </p:txBody>
      </p:sp>
      <p:sp>
        <p:nvSpPr>
          <p:cNvPr id="204" name="Google Shape;204;p27"/>
          <p:cNvSpPr txBox="1"/>
          <p:nvPr/>
        </p:nvSpPr>
        <p:spPr>
          <a:xfrm>
            <a:off x="5007644" y="4046220"/>
            <a:ext cx="288111" cy="288036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7"/>
          <p:cNvSpPr txBox="1"/>
          <p:nvPr/>
        </p:nvSpPr>
        <p:spPr>
          <a:xfrm>
            <a:off x="5007644" y="4046220"/>
            <a:ext cx="288111" cy="288036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💾</a:t>
            </a:r>
            <a:endParaRPr sz="1100"/>
          </a:p>
        </p:txBody>
      </p:sp>
      <p:sp>
        <p:nvSpPr>
          <p:cNvPr id="206" name="Google Shape;206;p27"/>
          <p:cNvSpPr txBox="1"/>
          <p:nvPr/>
        </p:nvSpPr>
        <p:spPr>
          <a:xfrm>
            <a:off x="5405512" y="4053078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Fileserver 備份</a:t>
            </a:r>
            <a:endParaRPr sz="1100"/>
          </a:p>
        </p:txBody>
      </p:sp>
      <p:sp>
        <p:nvSpPr>
          <p:cNvPr id="207" name="Google Shape;207;p27"/>
          <p:cNvSpPr txBox="1"/>
          <p:nvPr/>
        </p:nvSpPr>
        <p:spPr>
          <a:xfrm>
            <a:off x="5405512" y="4251960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AI_survey 資料夾標準備份</a:t>
            </a:r>
            <a:endParaRPr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8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8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8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8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整體流程</a:t>
            </a:r>
            <a:endParaRPr sz="1100"/>
          </a:p>
        </p:txBody>
      </p:sp>
      <p:sp>
        <p:nvSpPr>
          <p:cNvPr id="216" name="Google Shape;216;p28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End-to-End Workflow</a:t>
            </a:r>
            <a:endParaRPr sz="1100"/>
          </a:p>
        </p:txBody>
      </p:sp>
      <p:sp>
        <p:nvSpPr>
          <p:cNvPr id="217" name="Google Shape;217;p28"/>
          <p:cNvSpPr txBox="1"/>
          <p:nvPr/>
        </p:nvSpPr>
        <p:spPr>
          <a:xfrm>
            <a:off x="373858" y="1028700"/>
            <a:ext cx="1955039" cy="26060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8"/>
          <p:cNvSpPr txBox="1"/>
          <p:nvPr/>
        </p:nvSpPr>
        <p:spPr>
          <a:xfrm>
            <a:off x="373858" y="1028700"/>
            <a:ext cx="1955039" cy="42519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8"/>
          <p:cNvSpPr txBox="1"/>
          <p:nvPr/>
        </p:nvSpPr>
        <p:spPr>
          <a:xfrm>
            <a:off x="476755" y="1097280"/>
            <a:ext cx="329270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/>
          </a:p>
        </p:txBody>
      </p:sp>
      <p:sp>
        <p:nvSpPr>
          <p:cNvPr id="220" name="Google Shape;220;p28"/>
          <p:cNvSpPr txBox="1"/>
          <p:nvPr/>
        </p:nvSpPr>
        <p:spPr>
          <a:xfrm>
            <a:off x="751147" y="1083564"/>
            <a:ext cx="1474854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輸入競品影片</a:t>
            </a:r>
            <a:endParaRPr sz="1100"/>
          </a:p>
        </p:txBody>
      </p:sp>
      <p:sp>
        <p:nvSpPr>
          <p:cNvPr id="221" name="Google Shape;221;p28"/>
          <p:cNvSpPr txBox="1"/>
          <p:nvPr/>
        </p:nvSpPr>
        <p:spPr>
          <a:xfrm>
            <a:off x="565932" y="1680210"/>
            <a:ext cx="41159" cy="15087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8"/>
          <p:cNvSpPr txBox="1"/>
          <p:nvPr/>
        </p:nvSpPr>
        <p:spPr>
          <a:xfrm>
            <a:off x="682548" y="161163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放入 project/input_videos/</a:t>
            </a:r>
            <a:endParaRPr sz="1100"/>
          </a:p>
        </p:txBody>
      </p:sp>
      <p:sp>
        <p:nvSpPr>
          <p:cNvPr id="223" name="Google Shape;223;p28"/>
          <p:cNvSpPr txBox="1"/>
          <p:nvPr/>
        </p:nvSpPr>
        <p:spPr>
          <a:xfrm>
            <a:off x="565932" y="2057400"/>
            <a:ext cx="41159" cy="15087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8"/>
          <p:cNvSpPr txBox="1"/>
          <p:nvPr/>
        </p:nvSpPr>
        <p:spPr>
          <a:xfrm>
            <a:off x="682548" y="198882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支援批次多款遊戲</a:t>
            </a:r>
            <a:endParaRPr sz="1100"/>
          </a:p>
        </p:txBody>
      </p:sp>
      <p:sp>
        <p:nvSpPr>
          <p:cNvPr id="225" name="Google Shape;225;p28"/>
          <p:cNvSpPr txBox="1"/>
          <p:nvPr/>
        </p:nvSpPr>
        <p:spPr>
          <a:xfrm>
            <a:off x="565932" y="2434590"/>
            <a:ext cx="41159" cy="15087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8"/>
          <p:cNvSpPr txBox="1"/>
          <p:nvPr/>
        </p:nvSpPr>
        <p:spPr>
          <a:xfrm>
            <a:off x="682548" y="236601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自動偵測 ROI 區域</a:t>
            </a:r>
            <a:endParaRPr sz="1100"/>
          </a:p>
        </p:txBody>
      </p:sp>
      <p:sp>
        <p:nvSpPr>
          <p:cNvPr id="227" name="Google Shape;227;p28"/>
          <p:cNvSpPr txBox="1"/>
          <p:nvPr/>
        </p:nvSpPr>
        <p:spPr>
          <a:xfrm>
            <a:off x="2356337" y="2606040"/>
            <a:ext cx="15091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sz="1100"/>
          </a:p>
        </p:txBody>
      </p:sp>
      <p:sp>
        <p:nvSpPr>
          <p:cNvPr id="228" name="Google Shape;228;p28"/>
          <p:cNvSpPr txBox="1"/>
          <p:nvPr/>
        </p:nvSpPr>
        <p:spPr>
          <a:xfrm>
            <a:off x="2520972" y="1028700"/>
            <a:ext cx="1955039" cy="26060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8"/>
          <p:cNvSpPr txBox="1"/>
          <p:nvPr/>
        </p:nvSpPr>
        <p:spPr>
          <a:xfrm>
            <a:off x="2520972" y="1028700"/>
            <a:ext cx="1955039" cy="42519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8"/>
          <p:cNvSpPr txBox="1"/>
          <p:nvPr/>
        </p:nvSpPr>
        <p:spPr>
          <a:xfrm>
            <a:off x="2623868" y="1097280"/>
            <a:ext cx="329270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/>
          </a:p>
        </p:txBody>
      </p:sp>
      <p:sp>
        <p:nvSpPr>
          <p:cNvPr id="231" name="Google Shape;231;p28"/>
          <p:cNvSpPr txBox="1"/>
          <p:nvPr/>
        </p:nvSpPr>
        <p:spPr>
          <a:xfrm>
            <a:off x="2898259" y="1083564"/>
            <a:ext cx="1474854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主程式截圖分類</a:t>
            </a:r>
            <a:endParaRPr sz="1100"/>
          </a:p>
        </p:txBody>
      </p:sp>
      <p:sp>
        <p:nvSpPr>
          <p:cNvPr id="232" name="Google Shape;232;p28"/>
          <p:cNvSpPr txBox="1"/>
          <p:nvPr/>
        </p:nvSpPr>
        <p:spPr>
          <a:xfrm>
            <a:off x="2713046" y="1680210"/>
            <a:ext cx="41159" cy="1508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8"/>
          <p:cNvSpPr txBox="1"/>
          <p:nvPr/>
        </p:nvSpPr>
        <p:spPr>
          <a:xfrm>
            <a:off x="2829662" y="1611630"/>
            <a:ext cx="1543452" cy="196919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run_classifier</a:t>
            </a:r>
            <a:r>
              <a:rPr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_and_symbols.bat</a:t>
            </a:r>
            <a:endParaRPr b="0" i="0" sz="8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8"/>
          <p:cNvSpPr txBox="1"/>
          <p:nvPr/>
        </p:nvSpPr>
        <p:spPr>
          <a:xfrm>
            <a:off x="2713046" y="2057400"/>
            <a:ext cx="41159" cy="1508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8"/>
          <p:cNvSpPr txBox="1"/>
          <p:nvPr/>
        </p:nvSpPr>
        <p:spPr>
          <a:xfrm>
            <a:off x="2829662" y="198882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OCR + 場景變化偵測</a:t>
            </a:r>
            <a:endParaRPr sz="1100"/>
          </a:p>
        </p:txBody>
      </p:sp>
      <p:sp>
        <p:nvSpPr>
          <p:cNvPr id="236" name="Google Shape;236;p28"/>
          <p:cNvSpPr txBox="1"/>
          <p:nvPr/>
        </p:nvSpPr>
        <p:spPr>
          <a:xfrm>
            <a:off x="2713046" y="2434590"/>
            <a:ext cx="41159" cy="1508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8"/>
          <p:cNvSpPr txBox="1"/>
          <p:nvPr/>
        </p:nvSpPr>
        <p:spPr>
          <a:xfrm>
            <a:off x="2829662" y="236601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輸出分類截圖 + CSV</a:t>
            </a:r>
            <a:endParaRPr sz="1100"/>
          </a:p>
        </p:txBody>
      </p:sp>
      <p:sp>
        <p:nvSpPr>
          <p:cNvPr id="238" name="Google Shape;238;p28"/>
          <p:cNvSpPr txBox="1"/>
          <p:nvPr/>
        </p:nvSpPr>
        <p:spPr>
          <a:xfrm>
            <a:off x="4503450" y="2606040"/>
            <a:ext cx="15091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sz="1100"/>
          </a:p>
        </p:txBody>
      </p:sp>
      <p:sp>
        <p:nvSpPr>
          <p:cNvPr id="239" name="Google Shape;239;p28"/>
          <p:cNvSpPr txBox="1"/>
          <p:nvPr/>
        </p:nvSpPr>
        <p:spPr>
          <a:xfrm>
            <a:off x="4668085" y="1028700"/>
            <a:ext cx="1955039" cy="26060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8"/>
          <p:cNvSpPr txBox="1"/>
          <p:nvPr/>
        </p:nvSpPr>
        <p:spPr>
          <a:xfrm>
            <a:off x="4668085" y="1028700"/>
            <a:ext cx="1955039" cy="4251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8"/>
          <p:cNvSpPr txBox="1"/>
          <p:nvPr/>
        </p:nvSpPr>
        <p:spPr>
          <a:xfrm>
            <a:off x="4770981" y="1097280"/>
            <a:ext cx="329270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/>
          </a:p>
        </p:txBody>
      </p:sp>
      <p:sp>
        <p:nvSpPr>
          <p:cNvPr id="242" name="Google Shape;242;p28"/>
          <p:cNvSpPr txBox="1"/>
          <p:nvPr/>
        </p:nvSpPr>
        <p:spPr>
          <a:xfrm>
            <a:off x="5045373" y="1083564"/>
            <a:ext cx="1474854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Claude Skill 生成報告</a:t>
            </a:r>
            <a:endParaRPr sz="1100"/>
          </a:p>
        </p:txBody>
      </p:sp>
      <p:sp>
        <p:nvSpPr>
          <p:cNvPr id="243" name="Google Shape;243;p28"/>
          <p:cNvSpPr txBox="1"/>
          <p:nvPr/>
        </p:nvSpPr>
        <p:spPr>
          <a:xfrm>
            <a:off x="4860159" y="1680210"/>
            <a:ext cx="41159" cy="1508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8"/>
          <p:cNvSpPr txBox="1"/>
          <p:nvPr/>
        </p:nvSpPr>
        <p:spPr>
          <a:xfrm>
            <a:off x="4976775" y="161163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slot-report skill</a:t>
            </a:r>
            <a:endParaRPr sz="1100"/>
          </a:p>
        </p:txBody>
      </p:sp>
      <p:sp>
        <p:nvSpPr>
          <p:cNvPr id="245" name="Google Shape;245;p28"/>
          <p:cNvSpPr txBox="1"/>
          <p:nvPr/>
        </p:nvSpPr>
        <p:spPr>
          <a:xfrm>
            <a:off x="4860159" y="2057400"/>
            <a:ext cx="41159" cy="1508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8"/>
          <p:cNvSpPr txBox="1"/>
          <p:nvPr/>
        </p:nvSpPr>
        <p:spPr>
          <a:xfrm>
            <a:off x="4976775" y="198882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生成 report.html</a:t>
            </a:r>
            <a:endParaRPr sz="1100"/>
          </a:p>
        </p:txBody>
      </p:sp>
      <p:sp>
        <p:nvSpPr>
          <p:cNvPr id="247" name="Google Shape;247;p28"/>
          <p:cNvSpPr txBox="1"/>
          <p:nvPr/>
        </p:nvSpPr>
        <p:spPr>
          <a:xfrm>
            <a:off x="4860159" y="2434590"/>
            <a:ext cx="41159" cy="1508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8"/>
          <p:cNvSpPr txBox="1"/>
          <p:nvPr/>
        </p:nvSpPr>
        <p:spPr>
          <a:xfrm>
            <a:off x="4976775" y="236601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符號表 + 玩法說明</a:t>
            </a:r>
            <a:endParaRPr sz="1100"/>
          </a:p>
        </p:txBody>
      </p:sp>
      <p:sp>
        <p:nvSpPr>
          <p:cNvPr id="249" name="Google Shape;249;p28"/>
          <p:cNvSpPr txBox="1"/>
          <p:nvPr/>
        </p:nvSpPr>
        <p:spPr>
          <a:xfrm>
            <a:off x="6650562" y="2606040"/>
            <a:ext cx="15091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sz="1100"/>
          </a:p>
        </p:txBody>
      </p:sp>
      <p:sp>
        <p:nvSpPr>
          <p:cNvPr id="250" name="Google Shape;250;p28"/>
          <p:cNvSpPr txBox="1"/>
          <p:nvPr/>
        </p:nvSpPr>
        <p:spPr>
          <a:xfrm>
            <a:off x="6815198" y="1028700"/>
            <a:ext cx="1955039" cy="26060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8"/>
          <p:cNvSpPr txBox="1"/>
          <p:nvPr/>
        </p:nvSpPr>
        <p:spPr>
          <a:xfrm>
            <a:off x="6815198" y="1028700"/>
            <a:ext cx="1955039" cy="425196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8"/>
          <p:cNvSpPr txBox="1"/>
          <p:nvPr/>
        </p:nvSpPr>
        <p:spPr>
          <a:xfrm>
            <a:off x="6918095" y="1097280"/>
            <a:ext cx="329270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100"/>
          </a:p>
        </p:txBody>
      </p:sp>
      <p:sp>
        <p:nvSpPr>
          <p:cNvPr id="253" name="Google Shape;253;p28"/>
          <p:cNvSpPr txBox="1"/>
          <p:nvPr/>
        </p:nvSpPr>
        <p:spPr>
          <a:xfrm>
            <a:off x="7192486" y="1083564"/>
            <a:ext cx="1474854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備份 / 輸出 Figma</a:t>
            </a:r>
            <a:endParaRPr sz="1100"/>
          </a:p>
        </p:txBody>
      </p:sp>
      <p:sp>
        <p:nvSpPr>
          <p:cNvPr id="254" name="Google Shape;254;p28"/>
          <p:cNvSpPr txBox="1"/>
          <p:nvPr/>
        </p:nvSpPr>
        <p:spPr>
          <a:xfrm>
            <a:off x="7007272" y="1680210"/>
            <a:ext cx="41159" cy="150876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8"/>
          <p:cNvSpPr txBox="1"/>
          <p:nvPr/>
        </p:nvSpPr>
        <p:spPr>
          <a:xfrm>
            <a:off x="7123888" y="161163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archive_to_fileserver</a:t>
            </a:r>
            <a:endParaRPr b="0" i="0" sz="8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8"/>
          <p:cNvSpPr txBox="1"/>
          <p:nvPr/>
        </p:nvSpPr>
        <p:spPr>
          <a:xfrm>
            <a:off x="7007272" y="2057400"/>
            <a:ext cx="41159" cy="150876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8"/>
          <p:cNvSpPr txBox="1"/>
          <p:nvPr/>
        </p:nvSpPr>
        <p:spPr>
          <a:xfrm>
            <a:off x="7123888" y="198882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run_figma_export</a:t>
            </a:r>
            <a:endParaRPr sz="1100"/>
          </a:p>
        </p:txBody>
      </p:sp>
      <p:sp>
        <p:nvSpPr>
          <p:cNvPr id="258" name="Google Shape;258;p28"/>
          <p:cNvSpPr txBox="1"/>
          <p:nvPr/>
        </p:nvSpPr>
        <p:spPr>
          <a:xfrm>
            <a:off x="7007272" y="2434590"/>
            <a:ext cx="41159" cy="150876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8"/>
          <p:cNvSpPr txBox="1"/>
          <p:nvPr/>
        </p:nvSpPr>
        <p:spPr>
          <a:xfrm>
            <a:off x="7123888" y="236601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Figma Board 匯入</a:t>
            </a:r>
            <a:endParaRPr sz="1100"/>
          </a:p>
        </p:txBody>
      </p:sp>
      <p:sp>
        <p:nvSpPr>
          <p:cNvPr id="260" name="Google Shape;260;p28"/>
          <p:cNvSpPr txBox="1"/>
          <p:nvPr/>
        </p:nvSpPr>
        <p:spPr>
          <a:xfrm>
            <a:off x="342989" y="4834890"/>
            <a:ext cx="8458117" cy="219456"/>
          </a:xfrm>
          <a:prstGeom prst="rect">
            <a:avLst/>
          </a:prstGeom>
          <a:solidFill>
            <a:srgbClr val="FFEFCC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8"/>
          <p:cNvSpPr txBox="1"/>
          <p:nvPr/>
        </p:nvSpPr>
        <p:spPr>
          <a:xfrm>
            <a:off x="480185" y="4848606"/>
            <a:ext cx="8183725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805000"/>
                </a:solidFill>
                <a:latin typeface="Calibri"/>
                <a:ea typeface="Calibri"/>
                <a:cs typeface="Calibri"/>
                <a:sym typeface="Calibri"/>
              </a:rPr>
              <a:t>⚠  每個步驟均有對應的 PowerShell 腳本，可單獨執行，也可依需求彈性組合</a:t>
            </a:r>
            <a:endParaRPr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9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9"/>
          <p:cNvSpPr txBox="1"/>
          <p:nvPr/>
        </p:nvSpPr>
        <p:spPr>
          <a:xfrm>
            <a:off x="0" y="0"/>
            <a:ext cx="260672" cy="514350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9"/>
          <p:cNvSpPr txBox="1"/>
          <p:nvPr/>
        </p:nvSpPr>
        <p:spPr>
          <a:xfrm>
            <a:off x="685979" y="822960"/>
            <a:ext cx="3429893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7500">
                <a:solidFill>
                  <a:srgbClr val="1E325C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100"/>
          </a:p>
        </p:txBody>
      </p:sp>
      <p:sp>
        <p:nvSpPr>
          <p:cNvPr id="269" name="Google Shape;269;p29"/>
          <p:cNvSpPr txBox="1"/>
          <p:nvPr/>
        </p:nvSpPr>
        <p:spPr>
          <a:xfrm>
            <a:off x="685979" y="2057400"/>
            <a:ext cx="7545765" cy="75438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3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如何使用</a:t>
            </a:r>
            <a:endParaRPr sz="1100"/>
          </a:p>
        </p:txBody>
      </p:sp>
      <p:sp>
        <p:nvSpPr>
          <p:cNvPr id="270" name="Google Shape;270;p29"/>
          <p:cNvSpPr txBox="1"/>
          <p:nvPr/>
        </p:nvSpPr>
        <p:spPr>
          <a:xfrm>
            <a:off x="685979" y="2811779"/>
            <a:ext cx="754576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5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How to Use</a:t>
            </a:r>
            <a:endParaRPr sz="1100"/>
          </a:p>
        </p:txBody>
      </p:sp>
      <p:sp>
        <p:nvSpPr>
          <p:cNvPr id="271" name="Google Shape;271;p29"/>
          <p:cNvSpPr txBox="1"/>
          <p:nvPr/>
        </p:nvSpPr>
        <p:spPr>
          <a:xfrm>
            <a:off x="685979" y="3607308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9"/>
          <p:cNvSpPr txBox="1"/>
          <p:nvPr/>
        </p:nvSpPr>
        <p:spPr>
          <a:xfrm>
            <a:off x="685979" y="3607308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6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100"/>
          </a:p>
        </p:txBody>
      </p:sp>
      <p:sp>
        <p:nvSpPr>
          <p:cNvPr id="273" name="Google Shape;273;p29"/>
          <p:cNvSpPr txBox="1"/>
          <p:nvPr/>
        </p:nvSpPr>
        <p:spPr>
          <a:xfrm>
            <a:off x="891772" y="3566160"/>
            <a:ext cx="2400925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4.1  環境架設</a:t>
            </a:r>
            <a:endParaRPr sz="1100"/>
          </a:p>
        </p:txBody>
      </p:sp>
      <p:sp>
        <p:nvSpPr>
          <p:cNvPr id="274" name="Google Shape;274;p29"/>
          <p:cNvSpPr txBox="1"/>
          <p:nvPr/>
        </p:nvSpPr>
        <p:spPr>
          <a:xfrm>
            <a:off x="3361295" y="3607308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9"/>
          <p:cNvSpPr txBox="1"/>
          <p:nvPr/>
        </p:nvSpPr>
        <p:spPr>
          <a:xfrm>
            <a:off x="3361295" y="3607308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6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100"/>
          </a:p>
        </p:txBody>
      </p:sp>
      <p:sp>
        <p:nvSpPr>
          <p:cNvPr id="276" name="Google Shape;276;p29"/>
          <p:cNvSpPr txBox="1"/>
          <p:nvPr/>
        </p:nvSpPr>
        <p:spPr>
          <a:xfrm>
            <a:off x="3567089" y="3566160"/>
            <a:ext cx="2400925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4.2  主程式使用方式</a:t>
            </a:r>
            <a:endParaRPr sz="1100"/>
          </a:p>
        </p:txBody>
      </p:sp>
      <p:sp>
        <p:nvSpPr>
          <p:cNvPr id="277" name="Google Shape;277;p29"/>
          <p:cNvSpPr txBox="1"/>
          <p:nvPr/>
        </p:nvSpPr>
        <p:spPr>
          <a:xfrm>
            <a:off x="6036612" y="3607308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9"/>
          <p:cNvSpPr txBox="1"/>
          <p:nvPr/>
        </p:nvSpPr>
        <p:spPr>
          <a:xfrm>
            <a:off x="6036612" y="3607308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6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100"/>
          </a:p>
        </p:txBody>
      </p:sp>
      <p:sp>
        <p:nvSpPr>
          <p:cNvPr id="279" name="Google Shape;279;p29"/>
          <p:cNvSpPr txBox="1"/>
          <p:nvPr/>
        </p:nvSpPr>
        <p:spPr>
          <a:xfrm>
            <a:off x="6242406" y="3566160"/>
            <a:ext cx="2400925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4.3  Claude Skill 建立與呼叫</a:t>
            </a:r>
            <a:endParaRPr sz="1100"/>
          </a:p>
        </p:txBody>
      </p:sp>
      <p:sp>
        <p:nvSpPr>
          <p:cNvPr id="280" name="Google Shape;280;p29"/>
          <p:cNvSpPr txBox="1"/>
          <p:nvPr/>
        </p:nvSpPr>
        <p:spPr>
          <a:xfrm>
            <a:off x="685979" y="4005072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9"/>
          <p:cNvSpPr txBox="1"/>
          <p:nvPr/>
        </p:nvSpPr>
        <p:spPr>
          <a:xfrm>
            <a:off x="685979" y="4005072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6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100"/>
          </a:p>
        </p:txBody>
      </p:sp>
      <p:sp>
        <p:nvSpPr>
          <p:cNvPr id="282" name="Google Shape;282;p29"/>
          <p:cNvSpPr txBox="1"/>
          <p:nvPr/>
        </p:nvSpPr>
        <p:spPr>
          <a:xfrm>
            <a:off x="891772" y="3963924"/>
            <a:ext cx="2400925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4.4  Figma Board 匯入方式</a:t>
            </a:r>
            <a:endParaRPr sz="1100"/>
          </a:p>
        </p:txBody>
      </p:sp>
      <p:sp>
        <p:nvSpPr>
          <p:cNvPr id="283" name="Google Shape;283;p29"/>
          <p:cNvSpPr txBox="1"/>
          <p:nvPr/>
        </p:nvSpPr>
        <p:spPr>
          <a:xfrm>
            <a:off x="3361295" y="4005072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9"/>
          <p:cNvSpPr txBox="1"/>
          <p:nvPr/>
        </p:nvSpPr>
        <p:spPr>
          <a:xfrm>
            <a:off x="3361295" y="4005072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6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100"/>
          </a:p>
        </p:txBody>
      </p:sp>
      <p:sp>
        <p:nvSpPr>
          <p:cNvPr id="285" name="Google Shape;285;p29"/>
          <p:cNvSpPr txBox="1"/>
          <p:nvPr/>
        </p:nvSpPr>
        <p:spPr>
          <a:xfrm>
            <a:off x="3567089" y="3963924"/>
            <a:ext cx="2400925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4.5  備份至 Fileserver</a:t>
            </a:r>
            <a:endParaRPr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30"/>
          <p:cNvSpPr txBox="1"/>
          <p:nvPr/>
        </p:nvSpPr>
        <p:spPr>
          <a:xfrm>
            <a:off x="0" y="0"/>
            <a:ext cx="9144000" cy="284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Perfect Strike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30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30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30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環境架設</a:t>
            </a:r>
            <a:endParaRPr sz="1100"/>
          </a:p>
        </p:txBody>
      </p:sp>
      <p:sp>
        <p:nvSpPr>
          <p:cNvPr id="294" name="Google Shape;294;p30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Environment Setup</a:t>
            </a:r>
            <a:endParaRPr sz="1100"/>
          </a:p>
        </p:txBody>
      </p:sp>
      <p:sp>
        <p:nvSpPr>
          <p:cNvPr id="295" name="Google Shape;295;p30"/>
          <p:cNvSpPr txBox="1"/>
          <p:nvPr/>
        </p:nvSpPr>
        <p:spPr>
          <a:xfrm>
            <a:off x="7703540" y="82296"/>
            <a:ext cx="1303359" cy="260604"/>
          </a:xfrm>
          <a:prstGeom prst="rect">
            <a:avLst/>
          </a:prstGeom>
          <a:solidFill>
            <a:srgbClr val="E8F4FD"/>
          </a:solidFill>
          <a:ln cap="flat" cmpd="sng" w="12700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30"/>
          <p:cNvSpPr txBox="1"/>
          <p:nvPr/>
        </p:nvSpPr>
        <p:spPr>
          <a:xfrm>
            <a:off x="7717260" y="96012"/>
            <a:ext cx="1275920" cy="233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1A73C8"/>
                </a:solidFill>
                <a:latin typeface="Calibri"/>
                <a:ea typeface="Calibri"/>
                <a:cs typeface="Calibri"/>
                <a:sym typeface="Calibri"/>
              </a:rPr>
              <a:t>4.1  環境架設</a:t>
            </a:r>
            <a:endParaRPr sz="1100"/>
          </a:p>
        </p:txBody>
      </p:sp>
      <p:sp>
        <p:nvSpPr>
          <p:cNvPr id="297" name="Google Shape;297;p30"/>
          <p:cNvSpPr txBox="1"/>
          <p:nvPr/>
        </p:nvSpPr>
        <p:spPr>
          <a:xfrm>
            <a:off x="342989" y="1028700"/>
            <a:ext cx="377288" cy="37719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/>
          </a:p>
        </p:txBody>
      </p:sp>
      <p:sp>
        <p:nvSpPr>
          <p:cNvPr id="298" name="Google Shape;298;p30"/>
          <p:cNvSpPr txBox="1"/>
          <p:nvPr/>
        </p:nvSpPr>
        <p:spPr>
          <a:xfrm>
            <a:off x="836894" y="1028700"/>
            <a:ext cx="754576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建立虛擬環境並安裝套件</a:t>
            </a:r>
            <a:endParaRPr sz="1100"/>
          </a:p>
        </p:txBody>
      </p:sp>
      <p:sp>
        <p:nvSpPr>
          <p:cNvPr id="299" name="Google Shape;299;p30"/>
          <p:cNvSpPr txBox="1"/>
          <p:nvPr/>
        </p:nvSpPr>
        <p:spPr>
          <a:xfrm>
            <a:off x="836894" y="1378457"/>
            <a:ext cx="7545765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自動建立 .venv 並安裝 numpy、opencv、paddleocr 等相依套件</a:t>
            </a:r>
            <a:endParaRPr sz="1100"/>
          </a:p>
        </p:txBody>
      </p:sp>
      <p:sp>
        <p:nvSpPr>
          <p:cNvPr id="300" name="Google Shape;300;p30"/>
          <p:cNvSpPr txBox="1"/>
          <p:nvPr/>
        </p:nvSpPr>
        <p:spPr>
          <a:xfrm>
            <a:off x="836894" y="1693926"/>
            <a:ext cx="4458861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30"/>
          <p:cNvSpPr txBox="1"/>
          <p:nvPr/>
        </p:nvSpPr>
        <p:spPr>
          <a:xfrm>
            <a:off x="960370" y="1741931"/>
            <a:ext cx="4211909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PS&gt;  .\setup_venv.ps1</a:t>
            </a:r>
            <a:endParaRPr sz="1100"/>
          </a:p>
        </p:txBody>
      </p:sp>
      <p:sp>
        <p:nvSpPr>
          <p:cNvPr id="302" name="Google Shape;302;p30"/>
          <p:cNvSpPr txBox="1"/>
          <p:nvPr/>
        </p:nvSpPr>
        <p:spPr>
          <a:xfrm>
            <a:off x="342989" y="2125979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30"/>
          <p:cNvSpPr txBox="1"/>
          <p:nvPr/>
        </p:nvSpPr>
        <p:spPr>
          <a:xfrm>
            <a:off x="342989" y="2249424"/>
            <a:ext cx="377288" cy="37719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/>
          </a:p>
        </p:txBody>
      </p:sp>
      <p:sp>
        <p:nvSpPr>
          <p:cNvPr id="304" name="Google Shape;304;p30"/>
          <p:cNvSpPr txBox="1"/>
          <p:nvPr/>
        </p:nvSpPr>
        <p:spPr>
          <a:xfrm>
            <a:off x="836894" y="2249424"/>
            <a:ext cx="754576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確認環境正常</a:t>
            </a:r>
            <a:endParaRPr sz="1100"/>
          </a:p>
        </p:txBody>
      </p:sp>
      <p:sp>
        <p:nvSpPr>
          <p:cNvPr id="305" name="Google Shape;305;p30"/>
          <p:cNvSpPr txBox="1"/>
          <p:nvPr/>
        </p:nvSpPr>
        <p:spPr>
          <a:xfrm>
            <a:off x="836894" y="2599182"/>
            <a:ext cx="7545765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執行環境檢查，確認所有套件版本與相依性無誤</a:t>
            </a:r>
            <a:endParaRPr sz="1100"/>
          </a:p>
        </p:txBody>
      </p:sp>
      <p:sp>
        <p:nvSpPr>
          <p:cNvPr id="306" name="Google Shape;306;p30"/>
          <p:cNvSpPr txBox="1"/>
          <p:nvPr/>
        </p:nvSpPr>
        <p:spPr>
          <a:xfrm>
            <a:off x="836894" y="2914650"/>
            <a:ext cx="4458861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30"/>
          <p:cNvSpPr txBox="1"/>
          <p:nvPr/>
        </p:nvSpPr>
        <p:spPr>
          <a:xfrm>
            <a:off x="960370" y="2962656"/>
            <a:ext cx="4211909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PS&gt;  .\check_environment.ps1</a:t>
            </a:r>
            <a:endParaRPr sz="1100"/>
          </a:p>
        </p:txBody>
      </p:sp>
      <p:sp>
        <p:nvSpPr>
          <p:cNvPr id="308" name="Google Shape;308;p30"/>
          <p:cNvSpPr txBox="1"/>
          <p:nvPr/>
        </p:nvSpPr>
        <p:spPr>
          <a:xfrm>
            <a:off x="342989" y="3346704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30"/>
          <p:cNvSpPr txBox="1"/>
          <p:nvPr/>
        </p:nvSpPr>
        <p:spPr>
          <a:xfrm>
            <a:off x="342989" y="3470148"/>
            <a:ext cx="377288" cy="37719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/>
          </a:p>
        </p:txBody>
      </p:sp>
      <p:sp>
        <p:nvSpPr>
          <p:cNvPr id="310" name="Google Shape;310;p30"/>
          <p:cNvSpPr txBox="1"/>
          <p:nvPr/>
        </p:nvSpPr>
        <p:spPr>
          <a:xfrm>
            <a:off x="836894" y="3470148"/>
            <a:ext cx="754576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首次執行自動下載 OCR 模型</a:t>
            </a:r>
            <a:endParaRPr sz="1100"/>
          </a:p>
        </p:txBody>
      </p:sp>
      <p:sp>
        <p:nvSpPr>
          <p:cNvPr id="311" name="Google Shape;311;p30"/>
          <p:cNvSpPr txBox="1"/>
          <p:nvPr/>
        </p:nvSpPr>
        <p:spPr>
          <a:xfrm>
            <a:off x="836894" y="3819906"/>
            <a:ext cx="7545765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PaddleOCR 模型約 50MB，首次執行時自動下載，需確保網路連線</a:t>
            </a:r>
            <a:endParaRPr sz="1100"/>
          </a:p>
        </p:txBody>
      </p:sp>
      <p:sp>
        <p:nvSpPr>
          <p:cNvPr id="312" name="Google Shape;312;p30"/>
          <p:cNvSpPr txBox="1"/>
          <p:nvPr/>
        </p:nvSpPr>
        <p:spPr>
          <a:xfrm>
            <a:off x="6516800" y="1702374"/>
            <a:ext cx="2263800" cy="16566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30"/>
          <p:cNvSpPr txBox="1"/>
          <p:nvPr/>
        </p:nvSpPr>
        <p:spPr>
          <a:xfrm>
            <a:off x="6585395" y="1770876"/>
            <a:ext cx="2126400" cy="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14213D"/>
                </a:solidFill>
                <a:latin typeface="Consolas"/>
                <a:ea typeface="Consolas"/>
                <a:cs typeface="Consolas"/>
                <a:sym typeface="Consolas"/>
              </a:rPr>
              <a:t>requirements.txt</a:t>
            </a:r>
            <a:endParaRPr sz="1100"/>
          </a:p>
        </p:txBody>
      </p:sp>
      <p:sp>
        <p:nvSpPr>
          <p:cNvPr id="314" name="Google Shape;314;p30"/>
          <p:cNvSpPr txBox="1"/>
          <p:nvPr/>
        </p:nvSpPr>
        <p:spPr>
          <a:xfrm>
            <a:off x="6619694" y="2058912"/>
            <a:ext cx="2058000" cy="18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numpy==1.26.4</a:t>
            </a:r>
            <a:endParaRPr sz="1100"/>
          </a:p>
        </p:txBody>
      </p:sp>
      <p:sp>
        <p:nvSpPr>
          <p:cNvPr id="315" name="Google Shape;315;p30"/>
          <p:cNvSpPr txBox="1"/>
          <p:nvPr/>
        </p:nvSpPr>
        <p:spPr>
          <a:xfrm>
            <a:off x="6619694" y="2415528"/>
            <a:ext cx="2058000" cy="18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opencv-python==4.6.0.66</a:t>
            </a:r>
            <a:endParaRPr sz="1100"/>
          </a:p>
        </p:txBody>
      </p:sp>
      <p:sp>
        <p:nvSpPr>
          <p:cNvPr id="316" name="Google Shape;316;p30"/>
          <p:cNvSpPr txBox="1"/>
          <p:nvPr/>
        </p:nvSpPr>
        <p:spPr>
          <a:xfrm>
            <a:off x="6619694" y="2772144"/>
            <a:ext cx="2058000" cy="18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paddlepaddle==2.6.2</a:t>
            </a:r>
            <a:endParaRPr sz="1100"/>
          </a:p>
        </p:txBody>
      </p:sp>
      <p:sp>
        <p:nvSpPr>
          <p:cNvPr id="317" name="Google Shape;317;p30"/>
          <p:cNvSpPr txBox="1"/>
          <p:nvPr/>
        </p:nvSpPr>
        <p:spPr>
          <a:xfrm>
            <a:off x="6619694" y="3128760"/>
            <a:ext cx="2058000" cy="18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paddleocr==2.7.3</a:t>
            </a:r>
            <a:endParaRPr sz="1100"/>
          </a:p>
        </p:txBody>
      </p:sp>
      <p:sp>
        <p:nvSpPr>
          <p:cNvPr id="318" name="Google Shape;318;p30"/>
          <p:cNvSpPr txBox="1"/>
          <p:nvPr/>
        </p:nvSpPr>
        <p:spPr>
          <a:xfrm>
            <a:off x="5619050" y="923088"/>
            <a:ext cx="3283500" cy="431100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更詳細的架設環境說明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：slot-classifier\docs\python_environment_install_guide.html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31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31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1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31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主程式使用方式</a:t>
            </a:r>
            <a:endParaRPr sz="1100"/>
          </a:p>
        </p:txBody>
      </p:sp>
      <p:sp>
        <p:nvSpPr>
          <p:cNvPr id="327" name="Google Shape;327;p31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Running the Classifier</a:t>
            </a:r>
            <a:endParaRPr sz="1100"/>
          </a:p>
        </p:txBody>
      </p:sp>
      <p:sp>
        <p:nvSpPr>
          <p:cNvPr id="328" name="Google Shape;328;p31"/>
          <p:cNvSpPr txBox="1"/>
          <p:nvPr/>
        </p:nvSpPr>
        <p:spPr>
          <a:xfrm>
            <a:off x="7703540" y="82296"/>
            <a:ext cx="1303359" cy="260604"/>
          </a:xfrm>
          <a:prstGeom prst="rect">
            <a:avLst/>
          </a:prstGeom>
          <a:solidFill>
            <a:srgbClr val="E8F4FD"/>
          </a:solidFill>
          <a:ln cap="flat" cmpd="sng" w="12700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31"/>
          <p:cNvSpPr txBox="1"/>
          <p:nvPr/>
        </p:nvSpPr>
        <p:spPr>
          <a:xfrm>
            <a:off x="7717260" y="96012"/>
            <a:ext cx="1275920" cy="233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1A73C8"/>
                </a:solidFill>
                <a:latin typeface="Calibri"/>
                <a:ea typeface="Calibri"/>
                <a:cs typeface="Calibri"/>
                <a:sym typeface="Calibri"/>
              </a:rPr>
              <a:t>4.2  主程式</a:t>
            </a:r>
            <a:endParaRPr sz="1100"/>
          </a:p>
        </p:txBody>
      </p:sp>
      <p:sp>
        <p:nvSpPr>
          <p:cNvPr id="330" name="Google Shape;330;p31"/>
          <p:cNvSpPr txBox="1"/>
          <p:nvPr/>
        </p:nvSpPr>
        <p:spPr>
          <a:xfrm>
            <a:off x="342989" y="1028700"/>
            <a:ext cx="377288" cy="37719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/>
          </a:p>
        </p:txBody>
      </p:sp>
      <p:sp>
        <p:nvSpPr>
          <p:cNvPr id="331" name="Google Shape;331;p31"/>
          <p:cNvSpPr txBox="1"/>
          <p:nvPr/>
        </p:nvSpPr>
        <p:spPr>
          <a:xfrm>
            <a:off x="836894" y="1028700"/>
            <a:ext cx="5830818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放入影片檔案</a:t>
            </a:r>
            <a:endParaRPr sz="1100"/>
          </a:p>
        </p:txBody>
      </p:sp>
      <p:sp>
        <p:nvSpPr>
          <p:cNvPr id="332" name="Google Shape;332;p31"/>
          <p:cNvSpPr txBox="1"/>
          <p:nvPr/>
        </p:nvSpPr>
        <p:spPr>
          <a:xfrm>
            <a:off x="836894" y="1347482"/>
            <a:ext cx="5830800" cy="3528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將競品遊戲影片（.mp4）放入以下資料夾，支援多個影片一次處理</a:t>
            </a:r>
            <a:endParaRPr sz="9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請確保影片錄製完整，包含競品分析所需資料</a:t>
            </a:r>
            <a:endParaRPr sz="9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31"/>
          <p:cNvSpPr txBox="1"/>
          <p:nvPr/>
        </p:nvSpPr>
        <p:spPr>
          <a:xfrm>
            <a:off x="836894" y="1693926"/>
            <a:ext cx="4801850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31"/>
          <p:cNvSpPr txBox="1"/>
          <p:nvPr/>
        </p:nvSpPr>
        <p:spPr>
          <a:xfrm>
            <a:off x="960370" y="1741931"/>
            <a:ext cx="4554898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project\input_videos\GameName.mp4</a:t>
            </a:r>
            <a:endParaRPr sz="1100"/>
          </a:p>
        </p:txBody>
      </p:sp>
      <p:sp>
        <p:nvSpPr>
          <p:cNvPr id="335" name="Google Shape;335;p31"/>
          <p:cNvSpPr txBox="1"/>
          <p:nvPr/>
        </p:nvSpPr>
        <p:spPr>
          <a:xfrm>
            <a:off x="342989" y="2125979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31"/>
          <p:cNvSpPr txBox="1"/>
          <p:nvPr/>
        </p:nvSpPr>
        <p:spPr>
          <a:xfrm>
            <a:off x="342989" y="2249424"/>
            <a:ext cx="377288" cy="37719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/>
          </a:p>
        </p:txBody>
      </p:sp>
      <p:sp>
        <p:nvSpPr>
          <p:cNvPr id="337" name="Google Shape;337;p31"/>
          <p:cNvSpPr txBox="1"/>
          <p:nvPr/>
        </p:nvSpPr>
        <p:spPr>
          <a:xfrm>
            <a:off x="836894" y="2249424"/>
            <a:ext cx="5830818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執行分類主程式</a:t>
            </a:r>
            <a:endParaRPr sz="1100"/>
          </a:p>
        </p:txBody>
      </p:sp>
      <p:sp>
        <p:nvSpPr>
          <p:cNvPr id="338" name="Google Shape;338;p31"/>
          <p:cNvSpPr txBox="1"/>
          <p:nvPr/>
        </p:nvSpPr>
        <p:spPr>
          <a:xfrm>
            <a:off x="836894" y="2599182"/>
            <a:ext cx="5830818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一般執行處理所有影片；可加 GameName 參數指定單一遊戲</a:t>
            </a:r>
            <a:endParaRPr sz="1100"/>
          </a:p>
        </p:txBody>
      </p:sp>
      <p:sp>
        <p:nvSpPr>
          <p:cNvPr id="339" name="Google Shape;339;p31"/>
          <p:cNvSpPr txBox="1"/>
          <p:nvPr/>
        </p:nvSpPr>
        <p:spPr>
          <a:xfrm>
            <a:off x="836894" y="2914650"/>
            <a:ext cx="4801850" cy="60350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31"/>
          <p:cNvSpPr txBox="1"/>
          <p:nvPr/>
        </p:nvSpPr>
        <p:spPr>
          <a:xfrm>
            <a:off x="960370" y="2962656"/>
            <a:ext cx="45549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.\run_classifier.ps1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run_classify_and_symbols.bat</a:t>
            </a:r>
            <a:r>
              <a:rPr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"</a:t>
            </a:r>
            <a:r>
              <a:rPr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GameName</a:t>
            </a:r>
            <a:r>
              <a:rPr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"</a:t>
            </a:r>
            <a:endParaRPr sz="1100"/>
          </a:p>
        </p:txBody>
      </p:sp>
      <p:sp>
        <p:nvSpPr>
          <p:cNvPr id="341" name="Google Shape;341;p31"/>
          <p:cNvSpPr txBox="1"/>
          <p:nvPr/>
        </p:nvSpPr>
        <p:spPr>
          <a:xfrm>
            <a:off x="342989" y="3566160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31"/>
          <p:cNvSpPr txBox="1"/>
          <p:nvPr/>
        </p:nvSpPr>
        <p:spPr>
          <a:xfrm>
            <a:off x="342989" y="3689604"/>
            <a:ext cx="377288" cy="37719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/>
          </a:p>
        </p:txBody>
      </p:sp>
      <p:sp>
        <p:nvSpPr>
          <p:cNvPr id="343" name="Google Shape;343;p31"/>
          <p:cNvSpPr txBox="1"/>
          <p:nvPr/>
        </p:nvSpPr>
        <p:spPr>
          <a:xfrm>
            <a:off x="836894" y="3689604"/>
            <a:ext cx="5830818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確認輸出結果</a:t>
            </a:r>
            <a:endParaRPr sz="1100"/>
          </a:p>
        </p:txBody>
      </p:sp>
      <p:sp>
        <p:nvSpPr>
          <p:cNvPr id="344" name="Google Shape;344;p31"/>
          <p:cNvSpPr txBox="1"/>
          <p:nvPr/>
        </p:nvSpPr>
        <p:spPr>
          <a:xfrm>
            <a:off x="836894" y="4039362"/>
            <a:ext cx="5830818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每款遊戲獨立資料夾，包含分類截圖、CSV 統計表與低信心值截圖</a:t>
            </a:r>
            <a:endParaRPr sz="1100"/>
          </a:p>
        </p:txBody>
      </p:sp>
      <p:sp>
        <p:nvSpPr>
          <p:cNvPr id="345" name="Google Shape;345;p31"/>
          <p:cNvSpPr txBox="1"/>
          <p:nvPr/>
        </p:nvSpPr>
        <p:spPr>
          <a:xfrm>
            <a:off x="836894" y="4354829"/>
            <a:ext cx="4801850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31"/>
          <p:cNvSpPr txBox="1"/>
          <p:nvPr/>
        </p:nvSpPr>
        <p:spPr>
          <a:xfrm>
            <a:off x="960370" y="4402836"/>
            <a:ext cx="4554898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project\output\GameName\</a:t>
            </a:r>
            <a:endParaRPr sz="1100"/>
          </a:p>
        </p:txBody>
      </p:sp>
      <p:sp>
        <p:nvSpPr>
          <p:cNvPr id="347" name="Google Shape;347;p31"/>
          <p:cNvSpPr txBox="1"/>
          <p:nvPr/>
        </p:nvSpPr>
        <p:spPr>
          <a:xfrm>
            <a:off x="6928384" y="973836"/>
            <a:ext cx="1886441" cy="39776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31"/>
          <p:cNvSpPr txBox="1"/>
          <p:nvPr/>
        </p:nvSpPr>
        <p:spPr>
          <a:xfrm>
            <a:off x="6996982" y="1042416"/>
            <a:ext cx="1749246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輸出結構</a:t>
            </a:r>
            <a:endParaRPr sz="1100"/>
          </a:p>
        </p:txBody>
      </p:sp>
      <p:sp>
        <p:nvSpPr>
          <p:cNvPr id="349" name="Google Shape;349;p31"/>
          <p:cNvSpPr txBox="1"/>
          <p:nvPr/>
        </p:nvSpPr>
        <p:spPr>
          <a:xfrm>
            <a:off x="6996982" y="1344168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GameName/</a:t>
            </a:r>
            <a:endParaRPr sz="1100"/>
          </a:p>
        </p:txBody>
      </p:sp>
      <p:sp>
        <p:nvSpPr>
          <p:cNvPr id="350" name="Google Shape;350;p31"/>
          <p:cNvSpPr txBox="1"/>
          <p:nvPr/>
        </p:nvSpPr>
        <p:spPr>
          <a:xfrm>
            <a:off x="6996982" y="1659636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Loading/</a:t>
            </a:r>
            <a:endParaRPr sz="1100"/>
          </a:p>
        </p:txBody>
      </p:sp>
      <p:sp>
        <p:nvSpPr>
          <p:cNvPr id="351" name="Google Shape;351;p31"/>
          <p:cNvSpPr txBox="1"/>
          <p:nvPr/>
        </p:nvSpPr>
        <p:spPr>
          <a:xfrm>
            <a:off x="6996982" y="1975104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Basegame/</a:t>
            </a:r>
            <a:endParaRPr sz="1100"/>
          </a:p>
        </p:txBody>
      </p:sp>
      <p:sp>
        <p:nvSpPr>
          <p:cNvPr id="352" name="Google Shape;352;p31"/>
          <p:cNvSpPr txBox="1"/>
          <p:nvPr/>
        </p:nvSpPr>
        <p:spPr>
          <a:xfrm>
            <a:off x="6996982" y="2290572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Transition/</a:t>
            </a:r>
            <a:endParaRPr sz="1100"/>
          </a:p>
        </p:txBody>
      </p:sp>
      <p:sp>
        <p:nvSpPr>
          <p:cNvPr id="353" name="Google Shape;353;p31"/>
          <p:cNvSpPr txBox="1"/>
          <p:nvPr/>
        </p:nvSpPr>
        <p:spPr>
          <a:xfrm>
            <a:off x="6996982" y="2606040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Feature game/</a:t>
            </a:r>
            <a:endParaRPr sz="1100"/>
          </a:p>
        </p:txBody>
      </p:sp>
      <p:sp>
        <p:nvSpPr>
          <p:cNvPr id="354" name="Google Shape;354;p31"/>
          <p:cNvSpPr txBox="1"/>
          <p:nvPr/>
        </p:nvSpPr>
        <p:spPr>
          <a:xfrm>
            <a:off x="6996982" y="2921508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BigWin/</a:t>
            </a:r>
            <a:endParaRPr sz="1100"/>
          </a:p>
        </p:txBody>
      </p:sp>
      <p:sp>
        <p:nvSpPr>
          <p:cNvPr id="355" name="Google Shape;355;p31"/>
          <p:cNvSpPr txBox="1"/>
          <p:nvPr/>
        </p:nvSpPr>
        <p:spPr>
          <a:xfrm>
            <a:off x="6996982" y="3236976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Result/</a:t>
            </a:r>
            <a:endParaRPr sz="1100"/>
          </a:p>
        </p:txBody>
      </p:sp>
      <p:sp>
        <p:nvSpPr>
          <p:cNvPr id="356" name="Google Shape;356;p31"/>
          <p:cNvSpPr txBox="1"/>
          <p:nvPr/>
        </p:nvSpPr>
        <p:spPr>
          <a:xfrm>
            <a:off x="6996982" y="3552444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low_score/</a:t>
            </a:r>
            <a:endParaRPr sz="1100"/>
          </a:p>
        </p:txBody>
      </p:sp>
      <p:sp>
        <p:nvSpPr>
          <p:cNvPr id="357" name="Google Shape;357;p31"/>
          <p:cNvSpPr txBox="1"/>
          <p:nvPr/>
        </p:nvSpPr>
        <p:spPr>
          <a:xfrm>
            <a:off x="6996982" y="3867912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cls_result.csv</a:t>
            </a:r>
            <a:endParaRPr sz="1100"/>
          </a:p>
        </p:txBody>
      </p:sp>
      <p:sp>
        <p:nvSpPr>
          <p:cNvPr id="358" name="Google Shape;358;p31"/>
          <p:cNvSpPr txBox="1"/>
          <p:nvPr/>
        </p:nvSpPr>
        <p:spPr>
          <a:xfrm>
            <a:off x="6996982" y="4183380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└ report.html</a:t>
            </a:r>
            <a:endParaRPr sz="1100"/>
          </a:p>
        </p:txBody>
      </p:sp>
      <p:sp>
        <p:nvSpPr>
          <p:cNvPr id="359" name="Google Shape;359;p31"/>
          <p:cNvSpPr txBox="1"/>
          <p:nvPr/>
        </p:nvSpPr>
        <p:spPr>
          <a:xfrm>
            <a:off x="4302575" y="91275"/>
            <a:ext cx="3283500" cy="431100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更詳細的</a:t>
            </a: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使用方式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：slot-classifier\docs\</a:t>
            </a: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slot_classifier_usage_guide.html (執行分類)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32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32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32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32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Claude Skill — 競品報告生成</a:t>
            </a:r>
            <a:endParaRPr sz="1100"/>
          </a:p>
        </p:txBody>
      </p:sp>
      <p:sp>
        <p:nvSpPr>
          <p:cNvPr id="368" name="Google Shape;368;p32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Creating &amp; Calling the slot-report Skill</a:t>
            </a:r>
            <a:endParaRPr sz="1100"/>
          </a:p>
        </p:txBody>
      </p:sp>
      <p:sp>
        <p:nvSpPr>
          <p:cNvPr id="369" name="Google Shape;369;p32"/>
          <p:cNvSpPr txBox="1"/>
          <p:nvPr/>
        </p:nvSpPr>
        <p:spPr>
          <a:xfrm>
            <a:off x="7703540" y="82296"/>
            <a:ext cx="1303359" cy="260604"/>
          </a:xfrm>
          <a:prstGeom prst="rect">
            <a:avLst/>
          </a:prstGeom>
          <a:solidFill>
            <a:srgbClr val="E8F4FD"/>
          </a:solidFill>
          <a:ln cap="flat" cmpd="sng" w="12700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32"/>
          <p:cNvSpPr txBox="1"/>
          <p:nvPr/>
        </p:nvSpPr>
        <p:spPr>
          <a:xfrm>
            <a:off x="7717260" y="96012"/>
            <a:ext cx="1275920" cy="233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1A73C8"/>
                </a:solidFill>
                <a:latin typeface="Calibri"/>
                <a:ea typeface="Calibri"/>
                <a:cs typeface="Calibri"/>
                <a:sym typeface="Calibri"/>
              </a:rPr>
              <a:t>4.3  Claude Skill</a:t>
            </a:r>
            <a:endParaRPr sz="1100"/>
          </a:p>
        </p:txBody>
      </p:sp>
      <p:sp>
        <p:nvSpPr>
          <p:cNvPr id="371" name="Google Shape;371;p32"/>
          <p:cNvSpPr txBox="1"/>
          <p:nvPr/>
        </p:nvSpPr>
        <p:spPr>
          <a:xfrm>
            <a:off x="342989" y="973836"/>
            <a:ext cx="4047274" cy="3963924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32"/>
          <p:cNvSpPr txBox="1"/>
          <p:nvPr/>
        </p:nvSpPr>
        <p:spPr>
          <a:xfrm>
            <a:off x="342989" y="973836"/>
            <a:ext cx="4047274" cy="356616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32"/>
          <p:cNvSpPr txBox="1"/>
          <p:nvPr/>
        </p:nvSpPr>
        <p:spPr>
          <a:xfrm>
            <a:off x="493905" y="1014984"/>
            <a:ext cx="3704285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安裝 Skill</a:t>
            </a:r>
            <a:endParaRPr sz="1100"/>
          </a:p>
        </p:txBody>
      </p:sp>
      <p:sp>
        <p:nvSpPr>
          <p:cNvPr id="374" name="Google Shape;374;p32"/>
          <p:cNvSpPr txBox="1"/>
          <p:nvPr/>
        </p:nvSpPr>
        <p:spPr>
          <a:xfrm>
            <a:off x="445886" y="1440180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32"/>
          <p:cNvSpPr txBox="1"/>
          <p:nvPr/>
        </p:nvSpPr>
        <p:spPr>
          <a:xfrm>
            <a:off x="445886" y="1440180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0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①</a:t>
            </a:r>
            <a:endParaRPr sz="1100"/>
          </a:p>
        </p:txBody>
      </p:sp>
      <p:sp>
        <p:nvSpPr>
          <p:cNvPr id="376" name="Google Shape;376;p32"/>
          <p:cNvSpPr txBox="1"/>
          <p:nvPr/>
        </p:nvSpPr>
        <p:spPr>
          <a:xfrm>
            <a:off x="823174" y="1440180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找到 Skills 資料夾</a:t>
            </a:r>
            <a:endParaRPr sz="1100"/>
          </a:p>
        </p:txBody>
      </p:sp>
      <p:sp>
        <p:nvSpPr>
          <p:cNvPr id="377" name="Google Shape;377;p32"/>
          <p:cNvSpPr txBox="1"/>
          <p:nvPr/>
        </p:nvSpPr>
        <p:spPr>
          <a:xfrm>
            <a:off x="823174" y="1680210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%APPDATA%\Claude\...\skills\</a:t>
            </a:r>
            <a:endParaRPr sz="1100"/>
          </a:p>
        </p:txBody>
      </p:sp>
      <p:sp>
        <p:nvSpPr>
          <p:cNvPr id="378" name="Google Shape;378;p32"/>
          <p:cNvSpPr txBox="1"/>
          <p:nvPr/>
        </p:nvSpPr>
        <p:spPr>
          <a:xfrm>
            <a:off x="445886" y="2263140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32"/>
          <p:cNvSpPr txBox="1"/>
          <p:nvPr/>
        </p:nvSpPr>
        <p:spPr>
          <a:xfrm>
            <a:off x="445886" y="2263140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0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②</a:t>
            </a:r>
            <a:endParaRPr sz="1100"/>
          </a:p>
        </p:txBody>
      </p:sp>
      <p:sp>
        <p:nvSpPr>
          <p:cNvPr id="380" name="Google Shape;380;p32"/>
          <p:cNvSpPr txBox="1"/>
          <p:nvPr/>
        </p:nvSpPr>
        <p:spPr>
          <a:xfrm>
            <a:off x="823174" y="2263140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建立 slot-report/ 子目錄</a:t>
            </a:r>
            <a:endParaRPr sz="1100"/>
          </a:p>
        </p:txBody>
      </p:sp>
      <p:sp>
        <p:nvSpPr>
          <p:cNvPr id="381" name="Google Shape;381;p32"/>
          <p:cNvSpPr txBox="1"/>
          <p:nvPr/>
        </p:nvSpPr>
        <p:spPr>
          <a:xfrm>
            <a:off x="823174" y="2503170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在 skills/ 內新增 slot-report 資料夾</a:t>
            </a:r>
            <a:endParaRPr sz="1100"/>
          </a:p>
        </p:txBody>
      </p:sp>
      <p:sp>
        <p:nvSpPr>
          <p:cNvPr id="382" name="Google Shape;382;p32"/>
          <p:cNvSpPr txBox="1"/>
          <p:nvPr/>
        </p:nvSpPr>
        <p:spPr>
          <a:xfrm>
            <a:off x="445886" y="3086100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32"/>
          <p:cNvSpPr txBox="1"/>
          <p:nvPr/>
        </p:nvSpPr>
        <p:spPr>
          <a:xfrm>
            <a:off x="445886" y="3086100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0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③</a:t>
            </a:r>
            <a:endParaRPr sz="1100"/>
          </a:p>
        </p:txBody>
      </p:sp>
      <p:sp>
        <p:nvSpPr>
          <p:cNvPr id="384" name="Google Shape;384;p32"/>
          <p:cNvSpPr txBox="1"/>
          <p:nvPr/>
        </p:nvSpPr>
        <p:spPr>
          <a:xfrm>
            <a:off x="823174" y="3086100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複製 claude/Skill.md 內容</a:t>
            </a:r>
            <a:endParaRPr sz="1100"/>
          </a:p>
        </p:txBody>
      </p:sp>
      <p:sp>
        <p:nvSpPr>
          <p:cNvPr id="385" name="Google Shape;385;p32"/>
          <p:cNvSpPr txBox="1"/>
          <p:nvPr/>
        </p:nvSpPr>
        <p:spPr>
          <a:xfrm>
            <a:off x="823174" y="3326130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貼入 slot-report/SKILL.md 並儲存</a:t>
            </a:r>
            <a:endParaRPr sz="1100"/>
          </a:p>
        </p:txBody>
      </p:sp>
      <p:sp>
        <p:nvSpPr>
          <p:cNvPr id="386" name="Google Shape;386;p32"/>
          <p:cNvSpPr txBox="1"/>
          <p:nvPr/>
        </p:nvSpPr>
        <p:spPr>
          <a:xfrm>
            <a:off x="445886" y="3909059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32"/>
          <p:cNvSpPr txBox="1"/>
          <p:nvPr/>
        </p:nvSpPr>
        <p:spPr>
          <a:xfrm>
            <a:off x="445886" y="3909059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0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④</a:t>
            </a:r>
            <a:endParaRPr sz="1100"/>
          </a:p>
        </p:txBody>
      </p:sp>
      <p:sp>
        <p:nvSpPr>
          <p:cNvPr id="388" name="Google Shape;388;p32"/>
          <p:cNvSpPr txBox="1"/>
          <p:nvPr/>
        </p:nvSpPr>
        <p:spPr>
          <a:xfrm>
            <a:off x="823174" y="3909059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重新啟動 Claude Code</a:t>
            </a:r>
            <a:endParaRPr sz="1100"/>
          </a:p>
        </p:txBody>
      </p:sp>
      <p:sp>
        <p:nvSpPr>
          <p:cNvPr id="389" name="Google Shape;389;p32"/>
          <p:cNvSpPr txBox="1"/>
          <p:nvPr/>
        </p:nvSpPr>
        <p:spPr>
          <a:xfrm>
            <a:off x="823174" y="4149089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Skill 即可在對話中使用</a:t>
            </a:r>
            <a:endParaRPr sz="1100"/>
          </a:p>
        </p:txBody>
      </p:sp>
      <p:sp>
        <p:nvSpPr>
          <p:cNvPr id="390" name="Google Shape;390;p32"/>
          <p:cNvSpPr txBox="1"/>
          <p:nvPr/>
        </p:nvSpPr>
        <p:spPr>
          <a:xfrm>
            <a:off x="4630356" y="973836"/>
            <a:ext cx="4170750" cy="3963924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32"/>
          <p:cNvSpPr txBox="1"/>
          <p:nvPr/>
        </p:nvSpPr>
        <p:spPr>
          <a:xfrm>
            <a:off x="4630356" y="973836"/>
            <a:ext cx="4170750" cy="35661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32"/>
          <p:cNvSpPr txBox="1"/>
          <p:nvPr/>
        </p:nvSpPr>
        <p:spPr>
          <a:xfrm>
            <a:off x="4781271" y="1014984"/>
            <a:ext cx="384148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呼叫 Skill</a:t>
            </a:r>
            <a:endParaRPr sz="1100"/>
          </a:p>
        </p:txBody>
      </p:sp>
      <p:sp>
        <p:nvSpPr>
          <p:cNvPr id="393" name="Google Shape;393;p32"/>
          <p:cNvSpPr txBox="1"/>
          <p:nvPr/>
        </p:nvSpPr>
        <p:spPr>
          <a:xfrm>
            <a:off x="4781271" y="1426464"/>
            <a:ext cx="38414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在 Claude Code 輸入：</a:t>
            </a:r>
            <a:endParaRPr sz="1100"/>
          </a:p>
        </p:txBody>
      </p:sp>
      <p:sp>
        <p:nvSpPr>
          <p:cNvPr id="394" name="Google Shape;394;p32"/>
          <p:cNvSpPr txBox="1"/>
          <p:nvPr/>
        </p:nvSpPr>
        <p:spPr>
          <a:xfrm>
            <a:off x="4781271" y="1714500"/>
            <a:ext cx="3910078" cy="377190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32"/>
          <p:cNvSpPr txBox="1"/>
          <p:nvPr/>
        </p:nvSpPr>
        <p:spPr>
          <a:xfrm>
            <a:off x="4884168" y="1762506"/>
            <a:ext cx="370428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幫我分析 project/output/GameName 這款遊戲，生成 report.html</a:t>
            </a:r>
            <a:endParaRPr sz="1100"/>
          </a:p>
        </p:txBody>
      </p:sp>
      <p:sp>
        <p:nvSpPr>
          <p:cNvPr id="396" name="Google Shape;396;p32"/>
          <p:cNvSpPr txBox="1"/>
          <p:nvPr/>
        </p:nvSpPr>
        <p:spPr>
          <a:xfrm>
            <a:off x="4781271" y="2228850"/>
            <a:ext cx="38414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報告三大段落：</a:t>
            </a:r>
            <a:endParaRPr sz="1100"/>
          </a:p>
        </p:txBody>
      </p:sp>
      <p:sp>
        <p:nvSpPr>
          <p:cNvPr id="397" name="Google Shape;397;p32"/>
          <p:cNvSpPr txBox="1"/>
          <p:nvPr/>
        </p:nvSpPr>
        <p:spPr>
          <a:xfrm>
            <a:off x="4801850" y="2551176"/>
            <a:ext cx="301831" cy="301752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32"/>
          <p:cNvSpPr txBox="1"/>
          <p:nvPr/>
        </p:nvSpPr>
        <p:spPr>
          <a:xfrm>
            <a:off x="4801850" y="2551176"/>
            <a:ext cx="301831" cy="301752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📊</a:t>
            </a:r>
            <a:endParaRPr sz="1100"/>
          </a:p>
        </p:txBody>
      </p:sp>
      <p:sp>
        <p:nvSpPr>
          <p:cNvPr id="399" name="Google Shape;399;p32"/>
          <p:cNvSpPr txBox="1"/>
          <p:nvPr/>
        </p:nvSpPr>
        <p:spPr>
          <a:xfrm>
            <a:off x="5213438" y="2551176"/>
            <a:ext cx="341617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符號賠率表</a:t>
            </a:r>
            <a:endParaRPr sz="1100"/>
          </a:p>
        </p:txBody>
      </p:sp>
      <p:sp>
        <p:nvSpPr>
          <p:cNvPr id="400" name="Google Shape;400;p32"/>
          <p:cNvSpPr txBox="1"/>
          <p:nvPr/>
        </p:nvSpPr>
        <p:spPr>
          <a:xfrm>
            <a:off x="5213438" y="2770632"/>
            <a:ext cx="341617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特殊符號（Scatter/Wild）、主力符號、低值符號，各附圖片與賠率</a:t>
            </a:r>
            <a:endParaRPr sz="1100"/>
          </a:p>
        </p:txBody>
      </p:sp>
      <p:sp>
        <p:nvSpPr>
          <p:cNvPr id="401" name="Google Shape;401;p32"/>
          <p:cNvSpPr txBox="1"/>
          <p:nvPr/>
        </p:nvSpPr>
        <p:spPr>
          <a:xfrm>
            <a:off x="4801850" y="3291840"/>
            <a:ext cx="301831" cy="301752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32"/>
          <p:cNvSpPr txBox="1"/>
          <p:nvPr/>
        </p:nvSpPr>
        <p:spPr>
          <a:xfrm>
            <a:off x="4801850" y="3291840"/>
            <a:ext cx="301831" cy="301752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🃏</a:t>
            </a:r>
            <a:endParaRPr sz="1100"/>
          </a:p>
        </p:txBody>
      </p:sp>
      <p:sp>
        <p:nvSpPr>
          <p:cNvPr id="403" name="Google Shape;403;p32"/>
          <p:cNvSpPr txBox="1"/>
          <p:nvPr/>
        </p:nvSpPr>
        <p:spPr>
          <a:xfrm>
            <a:off x="5213438" y="3291840"/>
            <a:ext cx="341617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玩法機制</a:t>
            </a:r>
            <a:endParaRPr sz="1100"/>
          </a:p>
        </p:txBody>
      </p:sp>
      <p:sp>
        <p:nvSpPr>
          <p:cNvPr id="404" name="Google Shape;404;p32"/>
          <p:cNvSpPr txBox="1"/>
          <p:nvPr/>
        </p:nvSpPr>
        <p:spPr>
          <a:xfrm>
            <a:off x="5213438" y="3511296"/>
            <a:ext cx="341617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4–6 張機制卡，說明觸發條件、特效規則、連鎖機制</a:t>
            </a:r>
            <a:endParaRPr sz="1100"/>
          </a:p>
        </p:txBody>
      </p:sp>
      <p:sp>
        <p:nvSpPr>
          <p:cNvPr id="405" name="Google Shape;405;p32"/>
          <p:cNvSpPr txBox="1"/>
          <p:nvPr/>
        </p:nvSpPr>
        <p:spPr>
          <a:xfrm>
            <a:off x="4801850" y="4032504"/>
            <a:ext cx="301831" cy="3017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32"/>
          <p:cNvSpPr txBox="1"/>
          <p:nvPr/>
        </p:nvSpPr>
        <p:spPr>
          <a:xfrm>
            <a:off x="4801850" y="4032504"/>
            <a:ext cx="301831" cy="3017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🗺</a:t>
            </a:r>
            <a:endParaRPr sz="1100"/>
          </a:p>
        </p:txBody>
      </p:sp>
      <p:sp>
        <p:nvSpPr>
          <p:cNvPr id="407" name="Google Shape;407;p32"/>
          <p:cNvSpPr txBox="1"/>
          <p:nvPr/>
        </p:nvSpPr>
        <p:spPr>
          <a:xfrm>
            <a:off x="5213438" y="4032504"/>
            <a:ext cx="341617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遊戲流程圖</a:t>
            </a:r>
            <a:endParaRPr sz="1100"/>
          </a:p>
        </p:txBody>
      </p:sp>
      <p:sp>
        <p:nvSpPr>
          <p:cNvPr id="408" name="Google Shape;408;p32"/>
          <p:cNvSpPr txBox="1"/>
          <p:nvPr/>
        </p:nvSpPr>
        <p:spPr>
          <a:xfrm>
            <a:off x="5213438" y="4251960"/>
            <a:ext cx="341617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主遊戲 + 免費旋轉雙列橫向流程，各節點附截圖縮圖</a:t>
            </a:r>
            <a:endParaRPr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33"/>
          <p:cNvSpPr txBox="1"/>
          <p:nvPr/>
        </p:nvSpPr>
        <p:spPr>
          <a:xfrm>
            <a:off x="34300" y="0"/>
            <a:ext cx="9144000" cy="284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33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33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33"/>
          <p:cNvSpPr txBox="1"/>
          <p:nvPr/>
        </p:nvSpPr>
        <p:spPr>
          <a:xfrm>
            <a:off x="377288" y="82296"/>
            <a:ext cx="84582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Figma Board 匯入方式</a:t>
            </a:r>
            <a:r>
              <a:rPr b="1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（初版待優化）</a:t>
            </a:r>
            <a:endParaRPr sz="1100"/>
          </a:p>
        </p:txBody>
      </p:sp>
      <p:sp>
        <p:nvSpPr>
          <p:cNvPr id="417" name="Google Shape;417;p33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Importing to Figma Desktop</a:t>
            </a:r>
            <a:endParaRPr sz="1100"/>
          </a:p>
        </p:txBody>
      </p:sp>
      <p:sp>
        <p:nvSpPr>
          <p:cNvPr id="418" name="Google Shape;418;p33"/>
          <p:cNvSpPr txBox="1"/>
          <p:nvPr/>
        </p:nvSpPr>
        <p:spPr>
          <a:xfrm>
            <a:off x="7703540" y="82296"/>
            <a:ext cx="1303359" cy="260604"/>
          </a:xfrm>
          <a:prstGeom prst="rect">
            <a:avLst/>
          </a:prstGeom>
          <a:solidFill>
            <a:srgbClr val="E8F4FD"/>
          </a:solidFill>
          <a:ln cap="flat" cmpd="sng" w="12700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33"/>
          <p:cNvSpPr txBox="1"/>
          <p:nvPr/>
        </p:nvSpPr>
        <p:spPr>
          <a:xfrm>
            <a:off x="7717260" y="96012"/>
            <a:ext cx="1275920" cy="233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1A73C8"/>
                </a:solidFill>
                <a:latin typeface="Calibri"/>
                <a:ea typeface="Calibri"/>
                <a:cs typeface="Calibri"/>
                <a:sym typeface="Calibri"/>
              </a:rPr>
              <a:t>4.4  Figma</a:t>
            </a:r>
            <a:endParaRPr sz="1100"/>
          </a:p>
        </p:txBody>
      </p:sp>
      <p:sp>
        <p:nvSpPr>
          <p:cNvPr id="420" name="Google Shape;420;p33"/>
          <p:cNvSpPr txBox="1"/>
          <p:nvPr/>
        </p:nvSpPr>
        <p:spPr>
          <a:xfrm>
            <a:off x="342989" y="1028700"/>
            <a:ext cx="356709" cy="356616"/>
          </a:xfrm>
          <a:prstGeom prst="rect">
            <a:avLst/>
          </a:prstGeom>
          <a:solidFill>
            <a:srgbClr val="F2481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/>
          </a:p>
        </p:txBody>
      </p:sp>
      <p:sp>
        <p:nvSpPr>
          <p:cNvPr id="421" name="Google Shape;421;p33"/>
          <p:cNvSpPr txBox="1"/>
          <p:nvPr/>
        </p:nvSpPr>
        <p:spPr>
          <a:xfrm>
            <a:off x="809455" y="1028700"/>
            <a:ext cx="788875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執行 Figma Export</a:t>
            </a:r>
            <a:endParaRPr sz="1100"/>
          </a:p>
        </p:txBody>
      </p:sp>
      <p:sp>
        <p:nvSpPr>
          <p:cNvPr id="422" name="Google Shape;422;p33"/>
          <p:cNvSpPr txBox="1"/>
          <p:nvPr/>
        </p:nvSpPr>
        <p:spPr>
          <a:xfrm>
            <a:off x="809455" y="1351026"/>
            <a:ext cx="788875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在專案根目錄執行以下指令，自動生成 figma_export/ 資料夾與 manifest</a:t>
            </a:r>
            <a:endParaRPr sz="1100"/>
          </a:p>
        </p:txBody>
      </p:sp>
      <p:sp>
        <p:nvSpPr>
          <p:cNvPr id="423" name="Google Shape;423;p33"/>
          <p:cNvSpPr txBox="1"/>
          <p:nvPr/>
        </p:nvSpPr>
        <p:spPr>
          <a:xfrm>
            <a:off x="809455" y="1639061"/>
            <a:ext cx="5487829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33"/>
          <p:cNvSpPr txBox="1"/>
          <p:nvPr/>
        </p:nvSpPr>
        <p:spPr>
          <a:xfrm>
            <a:off x="932931" y="1687067"/>
            <a:ext cx="5240877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.\run_figma_export.ps1</a:t>
            </a:r>
            <a:endParaRPr sz="1100"/>
          </a:p>
        </p:txBody>
      </p:sp>
      <p:sp>
        <p:nvSpPr>
          <p:cNvPr id="425" name="Google Shape;425;p33"/>
          <p:cNvSpPr txBox="1"/>
          <p:nvPr/>
        </p:nvSpPr>
        <p:spPr>
          <a:xfrm>
            <a:off x="342989" y="1968245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33"/>
          <p:cNvSpPr txBox="1"/>
          <p:nvPr/>
        </p:nvSpPr>
        <p:spPr>
          <a:xfrm>
            <a:off x="342989" y="2125979"/>
            <a:ext cx="356709" cy="356616"/>
          </a:xfrm>
          <a:prstGeom prst="rect">
            <a:avLst/>
          </a:prstGeom>
          <a:solidFill>
            <a:srgbClr val="F2481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/>
          </a:p>
        </p:txBody>
      </p:sp>
      <p:sp>
        <p:nvSpPr>
          <p:cNvPr id="427" name="Google Shape;427;p33"/>
          <p:cNvSpPr txBox="1"/>
          <p:nvPr/>
        </p:nvSpPr>
        <p:spPr>
          <a:xfrm>
            <a:off x="809455" y="2125979"/>
            <a:ext cx="788875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匯入 Plugin Manifest</a:t>
            </a:r>
            <a:endParaRPr sz="1100"/>
          </a:p>
        </p:txBody>
      </p:sp>
      <p:sp>
        <p:nvSpPr>
          <p:cNvPr id="428" name="Google Shape;428;p33"/>
          <p:cNvSpPr txBox="1"/>
          <p:nvPr/>
        </p:nvSpPr>
        <p:spPr>
          <a:xfrm>
            <a:off x="809455" y="2448306"/>
            <a:ext cx="788875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開啟 Figma Desktop → Plugins &gt; Development &gt; Import plugin from manifest</a:t>
            </a:r>
            <a:endParaRPr sz="1100"/>
          </a:p>
        </p:txBody>
      </p:sp>
      <p:sp>
        <p:nvSpPr>
          <p:cNvPr id="429" name="Google Shape;429;p33"/>
          <p:cNvSpPr txBox="1"/>
          <p:nvPr/>
        </p:nvSpPr>
        <p:spPr>
          <a:xfrm>
            <a:off x="809455" y="2736342"/>
            <a:ext cx="5487829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3"/>
          <p:cNvSpPr txBox="1"/>
          <p:nvPr/>
        </p:nvSpPr>
        <p:spPr>
          <a:xfrm>
            <a:off x="932931" y="2784347"/>
            <a:ext cx="5240877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figma_tools\figma_plugin\manifest.json</a:t>
            </a:r>
            <a:endParaRPr sz="1100"/>
          </a:p>
        </p:txBody>
      </p:sp>
      <p:sp>
        <p:nvSpPr>
          <p:cNvPr id="431" name="Google Shape;431;p33"/>
          <p:cNvSpPr txBox="1"/>
          <p:nvPr/>
        </p:nvSpPr>
        <p:spPr>
          <a:xfrm>
            <a:off x="342989" y="3065526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33"/>
          <p:cNvSpPr txBox="1"/>
          <p:nvPr/>
        </p:nvSpPr>
        <p:spPr>
          <a:xfrm>
            <a:off x="342989" y="3223260"/>
            <a:ext cx="356709" cy="356616"/>
          </a:xfrm>
          <a:prstGeom prst="rect">
            <a:avLst/>
          </a:prstGeom>
          <a:solidFill>
            <a:srgbClr val="F2481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/>
          </a:p>
        </p:txBody>
      </p:sp>
      <p:sp>
        <p:nvSpPr>
          <p:cNvPr id="433" name="Google Shape;433;p33"/>
          <p:cNvSpPr txBox="1"/>
          <p:nvPr/>
        </p:nvSpPr>
        <p:spPr>
          <a:xfrm>
            <a:off x="809455" y="3223260"/>
            <a:ext cx="788875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執行 Slot Research Board Importer</a:t>
            </a:r>
            <a:endParaRPr sz="1100"/>
          </a:p>
        </p:txBody>
      </p:sp>
      <p:sp>
        <p:nvSpPr>
          <p:cNvPr id="434" name="Google Shape;434;p33"/>
          <p:cNvSpPr txBox="1"/>
          <p:nvPr/>
        </p:nvSpPr>
        <p:spPr>
          <a:xfrm>
            <a:off x="809455" y="3545586"/>
            <a:ext cx="788875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在 Figma 中執行 Plugin，選擇 figma_export/ 資料夾路徑</a:t>
            </a:r>
            <a:endParaRPr sz="1100"/>
          </a:p>
        </p:txBody>
      </p:sp>
      <p:sp>
        <p:nvSpPr>
          <p:cNvPr id="435" name="Google Shape;435;p33"/>
          <p:cNvSpPr txBox="1"/>
          <p:nvPr/>
        </p:nvSpPr>
        <p:spPr>
          <a:xfrm>
            <a:off x="342989" y="3806190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3"/>
          <p:cNvSpPr txBox="1"/>
          <p:nvPr/>
        </p:nvSpPr>
        <p:spPr>
          <a:xfrm>
            <a:off x="342989" y="3963924"/>
            <a:ext cx="356709" cy="356616"/>
          </a:xfrm>
          <a:prstGeom prst="rect">
            <a:avLst/>
          </a:prstGeom>
          <a:solidFill>
            <a:srgbClr val="F2481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100"/>
          </a:p>
        </p:txBody>
      </p:sp>
      <p:sp>
        <p:nvSpPr>
          <p:cNvPr id="437" name="Google Shape;437;p33"/>
          <p:cNvSpPr txBox="1"/>
          <p:nvPr/>
        </p:nvSpPr>
        <p:spPr>
          <a:xfrm>
            <a:off x="809455" y="3963924"/>
            <a:ext cx="788875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完成</a:t>
            </a:r>
            <a:endParaRPr sz="1100"/>
          </a:p>
        </p:txBody>
      </p:sp>
      <p:sp>
        <p:nvSpPr>
          <p:cNvPr id="438" name="Google Shape;438;p33"/>
          <p:cNvSpPr txBox="1"/>
          <p:nvPr/>
        </p:nvSpPr>
        <p:spPr>
          <a:xfrm>
            <a:off x="809455" y="4286250"/>
            <a:ext cx="788875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Plugin 自動建立分類截圖板，依 Loading / Basegame / Feature / BigWin 等分組排列</a:t>
            </a:r>
            <a:endParaRPr sz="1100"/>
          </a:p>
        </p:txBody>
      </p:sp>
      <p:sp>
        <p:nvSpPr>
          <p:cNvPr id="439" name="Google Shape;439;p33"/>
          <p:cNvSpPr txBox="1"/>
          <p:nvPr/>
        </p:nvSpPr>
        <p:spPr>
          <a:xfrm>
            <a:off x="6577100" y="952750"/>
            <a:ext cx="2258400" cy="1293000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目前Figma會匯入本地project 內所有專案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各場景的代表圖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如 </a:t>
            </a:r>
            <a:r>
              <a:rPr lang="zh-TW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連結</a:t>
            </a: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所示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未來應將此功能結合雲端資料庫/HashTag搜尋功能，匯入所需專案生成美術牆即可。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FigmaBoard 的生成腳本應該建立在雲端，取用雲端資料庫資源。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34"/>
          <p:cNvSpPr txBox="1"/>
          <p:nvPr/>
        </p:nvSpPr>
        <p:spPr>
          <a:xfrm>
            <a:off x="34300" y="0"/>
            <a:ext cx="9144000" cy="284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34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34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34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備份至 Fileserver</a:t>
            </a:r>
            <a:endParaRPr sz="1100"/>
          </a:p>
        </p:txBody>
      </p:sp>
      <p:sp>
        <p:nvSpPr>
          <p:cNvPr id="448" name="Google Shape;448;p34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Archive to Fileserver</a:t>
            </a:r>
            <a:endParaRPr sz="1100"/>
          </a:p>
        </p:txBody>
      </p:sp>
      <p:sp>
        <p:nvSpPr>
          <p:cNvPr id="449" name="Google Shape;449;p34"/>
          <p:cNvSpPr txBox="1"/>
          <p:nvPr/>
        </p:nvSpPr>
        <p:spPr>
          <a:xfrm>
            <a:off x="7703540" y="82296"/>
            <a:ext cx="1303359" cy="260604"/>
          </a:xfrm>
          <a:prstGeom prst="rect">
            <a:avLst/>
          </a:prstGeom>
          <a:solidFill>
            <a:srgbClr val="E8F4FD"/>
          </a:solidFill>
          <a:ln cap="flat" cmpd="sng" w="12700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34"/>
          <p:cNvSpPr txBox="1"/>
          <p:nvPr/>
        </p:nvSpPr>
        <p:spPr>
          <a:xfrm>
            <a:off x="7717260" y="96012"/>
            <a:ext cx="1275920" cy="233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1A73C8"/>
                </a:solidFill>
                <a:latin typeface="Calibri"/>
                <a:ea typeface="Calibri"/>
                <a:cs typeface="Calibri"/>
                <a:sym typeface="Calibri"/>
              </a:rPr>
              <a:t>4.5  備份</a:t>
            </a:r>
            <a:endParaRPr sz="1100"/>
          </a:p>
        </p:txBody>
      </p:sp>
      <p:sp>
        <p:nvSpPr>
          <p:cNvPr id="451" name="Google Shape;451;p34"/>
          <p:cNvSpPr txBox="1"/>
          <p:nvPr/>
        </p:nvSpPr>
        <p:spPr>
          <a:xfrm>
            <a:off x="342989" y="1028700"/>
            <a:ext cx="8231744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執行備份腳本：</a:t>
            </a:r>
            <a:endParaRPr sz="1100"/>
          </a:p>
        </p:txBody>
      </p:sp>
      <p:sp>
        <p:nvSpPr>
          <p:cNvPr id="452" name="Google Shape;452;p34"/>
          <p:cNvSpPr txBox="1"/>
          <p:nvPr/>
        </p:nvSpPr>
        <p:spPr>
          <a:xfrm>
            <a:off x="342989" y="1337310"/>
            <a:ext cx="5144840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34"/>
          <p:cNvSpPr txBox="1"/>
          <p:nvPr/>
        </p:nvSpPr>
        <p:spPr>
          <a:xfrm>
            <a:off x="466465" y="1385316"/>
            <a:ext cx="4897887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.\archive_to_fileserver.ps1</a:t>
            </a:r>
            <a:endParaRPr sz="1100"/>
          </a:p>
        </p:txBody>
      </p:sp>
      <p:sp>
        <p:nvSpPr>
          <p:cNvPr id="454" name="Google Shape;454;p34"/>
          <p:cNvSpPr txBox="1"/>
          <p:nvPr/>
        </p:nvSpPr>
        <p:spPr>
          <a:xfrm>
            <a:off x="342989" y="1837944"/>
            <a:ext cx="8231744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備份目標結構  ─  AI_survey / GameName /</a:t>
            </a:r>
            <a:endParaRPr sz="1100"/>
          </a:p>
        </p:txBody>
      </p:sp>
      <p:sp>
        <p:nvSpPr>
          <p:cNvPr id="455" name="Google Shape;455;p34"/>
          <p:cNvSpPr txBox="1"/>
          <p:nvPr/>
        </p:nvSpPr>
        <p:spPr>
          <a:xfrm>
            <a:off x="240092" y="2228850"/>
            <a:ext cx="1612050" cy="397764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34"/>
          <p:cNvSpPr txBox="1"/>
          <p:nvPr/>
        </p:nvSpPr>
        <p:spPr>
          <a:xfrm>
            <a:off x="240092" y="2228850"/>
            <a:ext cx="1612050" cy="397764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01_report</a:t>
            </a:r>
            <a:endParaRPr sz="1100"/>
          </a:p>
        </p:txBody>
      </p:sp>
      <p:sp>
        <p:nvSpPr>
          <p:cNvPr id="457" name="Google Shape;457;p34"/>
          <p:cNvSpPr txBox="1"/>
          <p:nvPr/>
        </p:nvSpPr>
        <p:spPr>
          <a:xfrm>
            <a:off x="240092" y="2626614"/>
            <a:ext cx="1612050" cy="17830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34"/>
          <p:cNvSpPr txBox="1"/>
          <p:nvPr/>
        </p:nvSpPr>
        <p:spPr>
          <a:xfrm>
            <a:off x="322409" y="2722626"/>
            <a:ext cx="1447415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HTML 競品分析報告 + assets</a:t>
            </a:r>
            <a:endParaRPr sz="1100"/>
          </a:p>
        </p:txBody>
      </p:sp>
      <p:sp>
        <p:nvSpPr>
          <p:cNvPr id="459" name="Google Shape;459;p34"/>
          <p:cNvSpPr txBox="1"/>
          <p:nvPr/>
        </p:nvSpPr>
        <p:spPr>
          <a:xfrm>
            <a:off x="2003058" y="2228850"/>
            <a:ext cx="1612050" cy="397764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34"/>
          <p:cNvSpPr txBox="1"/>
          <p:nvPr/>
        </p:nvSpPr>
        <p:spPr>
          <a:xfrm>
            <a:off x="2003058" y="2228850"/>
            <a:ext cx="1612050" cy="397764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02_classified_images</a:t>
            </a:r>
            <a:endParaRPr sz="1100"/>
          </a:p>
        </p:txBody>
      </p:sp>
      <p:sp>
        <p:nvSpPr>
          <p:cNvPr id="461" name="Google Shape;461;p34"/>
          <p:cNvSpPr txBox="1"/>
          <p:nvPr/>
        </p:nvSpPr>
        <p:spPr>
          <a:xfrm>
            <a:off x="2003058" y="2626614"/>
            <a:ext cx="1612050" cy="17830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34"/>
          <p:cNvSpPr txBox="1"/>
          <p:nvPr/>
        </p:nvSpPr>
        <p:spPr>
          <a:xfrm>
            <a:off x="2085375" y="2722626"/>
            <a:ext cx="1447415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分類截圖（Basegame / Feature 等）</a:t>
            </a:r>
            <a:endParaRPr sz="1100"/>
          </a:p>
        </p:txBody>
      </p:sp>
      <p:sp>
        <p:nvSpPr>
          <p:cNvPr id="463" name="Google Shape;463;p34"/>
          <p:cNvSpPr txBox="1"/>
          <p:nvPr/>
        </p:nvSpPr>
        <p:spPr>
          <a:xfrm>
            <a:off x="3766023" y="2228850"/>
            <a:ext cx="1612050" cy="3977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34"/>
          <p:cNvSpPr txBox="1"/>
          <p:nvPr/>
        </p:nvSpPr>
        <p:spPr>
          <a:xfrm>
            <a:off x="3766023" y="2228850"/>
            <a:ext cx="1612050" cy="3977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03_figma</a:t>
            </a:r>
            <a:endParaRPr sz="1100"/>
          </a:p>
        </p:txBody>
      </p:sp>
      <p:sp>
        <p:nvSpPr>
          <p:cNvPr id="465" name="Google Shape;465;p34"/>
          <p:cNvSpPr txBox="1"/>
          <p:nvPr/>
        </p:nvSpPr>
        <p:spPr>
          <a:xfrm>
            <a:off x="3766023" y="2626614"/>
            <a:ext cx="1612050" cy="17830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34"/>
          <p:cNvSpPr txBox="1"/>
          <p:nvPr/>
        </p:nvSpPr>
        <p:spPr>
          <a:xfrm>
            <a:off x="3848340" y="2722626"/>
            <a:ext cx="1447415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Figma 匯入包（manifest + images）</a:t>
            </a:r>
            <a:endParaRPr sz="1100"/>
          </a:p>
        </p:txBody>
      </p:sp>
      <p:sp>
        <p:nvSpPr>
          <p:cNvPr id="467" name="Google Shape;467;p34"/>
          <p:cNvSpPr txBox="1"/>
          <p:nvPr/>
        </p:nvSpPr>
        <p:spPr>
          <a:xfrm>
            <a:off x="5528988" y="2228850"/>
            <a:ext cx="1612050" cy="3977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34"/>
          <p:cNvSpPr txBox="1"/>
          <p:nvPr/>
        </p:nvSpPr>
        <p:spPr>
          <a:xfrm>
            <a:off x="5528988" y="2228850"/>
            <a:ext cx="1612050" cy="3977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04_logs</a:t>
            </a:r>
            <a:endParaRPr sz="1100"/>
          </a:p>
        </p:txBody>
      </p:sp>
      <p:sp>
        <p:nvSpPr>
          <p:cNvPr id="469" name="Google Shape;469;p34"/>
          <p:cNvSpPr txBox="1"/>
          <p:nvPr/>
        </p:nvSpPr>
        <p:spPr>
          <a:xfrm>
            <a:off x="5528988" y="2626614"/>
            <a:ext cx="1612050" cy="17830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34"/>
          <p:cNvSpPr txBox="1"/>
          <p:nvPr/>
        </p:nvSpPr>
        <p:spPr>
          <a:xfrm>
            <a:off x="5611305" y="2722626"/>
            <a:ext cx="1447415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執行紀錄與低信心值截圖</a:t>
            </a:r>
            <a:endParaRPr sz="1100"/>
          </a:p>
        </p:txBody>
      </p:sp>
      <p:sp>
        <p:nvSpPr>
          <p:cNvPr id="471" name="Google Shape;471;p34"/>
          <p:cNvSpPr txBox="1"/>
          <p:nvPr/>
        </p:nvSpPr>
        <p:spPr>
          <a:xfrm>
            <a:off x="7291953" y="2228850"/>
            <a:ext cx="1612050" cy="397764"/>
          </a:xfrm>
          <a:prstGeom prst="rect">
            <a:avLst/>
          </a:prstGeom>
          <a:solidFill>
            <a:srgbClr val="778899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34"/>
          <p:cNvSpPr txBox="1"/>
          <p:nvPr/>
        </p:nvSpPr>
        <p:spPr>
          <a:xfrm>
            <a:off x="7291953" y="2228850"/>
            <a:ext cx="1612050" cy="397764"/>
          </a:xfrm>
          <a:prstGeom prst="rect">
            <a:avLst/>
          </a:prstGeom>
          <a:solidFill>
            <a:srgbClr val="778899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video</a:t>
            </a:r>
            <a:endParaRPr sz="1100"/>
          </a:p>
        </p:txBody>
      </p:sp>
      <p:sp>
        <p:nvSpPr>
          <p:cNvPr id="473" name="Google Shape;473;p34"/>
          <p:cNvSpPr txBox="1"/>
          <p:nvPr/>
        </p:nvSpPr>
        <p:spPr>
          <a:xfrm>
            <a:off x="7291953" y="2626614"/>
            <a:ext cx="1612050" cy="17830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34"/>
          <p:cNvSpPr txBox="1"/>
          <p:nvPr/>
        </p:nvSpPr>
        <p:spPr>
          <a:xfrm>
            <a:off x="7374270" y="2722626"/>
            <a:ext cx="1447415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原始影片（選擇性備份）</a:t>
            </a:r>
            <a:endParaRPr sz="1100"/>
          </a:p>
        </p:txBody>
      </p:sp>
      <p:sp>
        <p:nvSpPr>
          <p:cNvPr id="475" name="Google Shape;475;p34"/>
          <p:cNvSpPr txBox="1"/>
          <p:nvPr/>
        </p:nvSpPr>
        <p:spPr>
          <a:xfrm>
            <a:off x="342989" y="4629150"/>
            <a:ext cx="8458117" cy="308610"/>
          </a:xfrm>
          <a:prstGeom prst="rect">
            <a:avLst/>
          </a:prstGeom>
          <a:solidFill>
            <a:srgbClr val="FFEFCC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34"/>
          <p:cNvSpPr txBox="1"/>
          <p:nvPr/>
        </p:nvSpPr>
        <p:spPr>
          <a:xfrm>
            <a:off x="493905" y="4663440"/>
            <a:ext cx="8156286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805000"/>
                </a:solidFill>
                <a:latin typeface="Calibri"/>
                <a:ea typeface="Calibri"/>
                <a:cs typeface="Calibri"/>
                <a:sym typeface="Calibri"/>
              </a:rPr>
              <a:t>⚠  low_score 截圖請先人工確認分類正確性，再決定備份至 Help 或 Other；HTML report 與 assets 保持原始資料夾結構以避免路徑失效</a:t>
            </a:r>
            <a:endParaRPr sz="1100"/>
          </a:p>
        </p:txBody>
      </p:sp>
      <p:sp>
        <p:nvSpPr>
          <p:cNvPr id="477" name="Google Shape;477;p34"/>
          <p:cNvSpPr txBox="1"/>
          <p:nvPr/>
        </p:nvSpPr>
        <p:spPr>
          <a:xfrm>
            <a:off x="5611300" y="1118538"/>
            <a:ext cx="3283500" cy="554100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備份位址：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\\192.168.123.5\jl商用遊戲機事務處\JLRD01研發一部\JLRD03美術設計\IGaming\0_Common\AI_survey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34"/>
          <p:cNvSpPr/>
          <p:nvPr/>
        </p:nvSpPr>
        <p:spPr>
          <a:xfrm>
            <a:off x="3752350" y="2647204"/>
            <a:ext cx="1721700" cy="1681500"/>
          </a:xfrm>
          <a:prstGeom prst="mathMultiply">
            <a:avLst>
              <a:gd fmla="val 23520" name="adj1"/>
            </a:avLst>
          </a:prstGeom>
          <a:solidFill>
            <a:schemeClr val="accent4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35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35"/>
          <p:cNvSpPr txBox="1"/>
          <p:nvPr/>
        </p:nvSpPr>
        <p:spPr>
          <a:xfrm>
            <a:off x="0" y="0"/>
            <a:ext cx="260672" cy="514350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35"/>
          <p:cNvSpPr txBox="1"/>
          <p:nvPr/>
        </p:nvSpPr>
        <p:spPr>
          <a:xfrm>
            <a:off x="260672" y="4663440"/>
            <a:ext cx="8883423" cy="48006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35"/>
          <p:cNvSpPr txBox="1"/>
          <p:nvPr/>
        </p:nvSpPr>
        <p:spPr>
          <a:xfrm>
            <a:off x="685979" y="754380"/>
            <a:ext cx="7545765" cy="8915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3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GitHub</a:t>
            </a:r>
            <a:endParaRPr sz="1100"/>
          </a:p>
        </p:txBody>
      </p:sp>
      <p:sp>
        <p:nvSpPr>
          <p:cNvPr id="487" name="Google Shape;487;p35"/>
          <p:cNvSpPr txBox="1"/>
          <p:nvPr/>
        </p:nvSpPr>
        <p:spPr>
          <a:xfrm>
            <a:off x="685979" y="1659636"/>
            <a:ext cx="2195132" cy="51435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5"/>
          <p:cNvSpPr txBox="1"/>
          <p:nvPr/>
        </p:nvSpPr>
        <p:spPr>
          <a:xfrm>
            <a:off x="685979" y="1769364"/>
            <a:ext cx="7545765" cy="35661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5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原始碼與技術文件</a:t>
            </a:r>
            <a:endParaRPr sz="1100"/>
          </a:p>
        </p:txBody>
      </p:sp>
      <p:sp>
        <p:nvSpPr>
          <p:cNvPr id="489" name="Google Shape;489;p35"/>
          <p:cNvSpPr txBox="1"/>
          <p:nvPr/>
        </p:nvSpPr>
        <p:spPr>
          <a:xfrm>
            <a:off x="685979" y="2263140"/>
            <a:ext cx="7202776" cy="445770"/>
          </a:xfrm>
          <a:prstGeom prst="rect">
            <a:avLst/>
          </a:prstGeom>
          <a:solidFill>
            <a:srgbClr val="0A183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35"/>
          <p:cNvSpPr txBox="1"/>
          <p:nvPr/>
        </p:nvSpPr>
        <p:spPr>
          <a:xfrm>
            <a:off x="823174" y="2318004"/>
            <a:ext cx="6928384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100">
                <a:solidFill>
                  <a:srgbClr val="79C0FF"/>
                </a:solidFill>
                <a:latin typeface="Consolas"/>
                <a:ea typeface="Consolas"/>
                <a:cs typeface="Consolas"/>
                <a:sym typeface="Consolas"/>
              </a:rPr>
              <a:t>https://github.com/Ashley860511/slot-classifier.git</a:t>
            </a:r>
            <a:endParaRPr sz="1100"/>
          </a:p>
        </p:txBody>
      </p:sp>
      <p:sp>
        <p:nvSpPr>
          <p:cNvPr id="491" name="Google Shape;491;p35"/>
          <p:cNvSpPr txBox="1"/>
          <p:nvPr/>
        </p:nvSpPr>
        <p:spPr>
          <a:xfrm>
            <a:off x="685979" y="2811779"/>
            <a:ext cx="7545765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0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專案內容</a:t>
            </a:r>
            <a:endParaRPr sz="1100"/>
          </a:p>
        </p:txBody>
      </p:sp>
      <p:sp>
        <p:nvSpPr>
          <p:cNvPr id="492" name="Google Shape;492;p35"/>
          <p:cNvSpPr txBox="1"/>
          <p:nvPr/>
        </p:nvSpPr>
        <p:spPr>
          <a:xfrm>
            <a:off x="685979" y="3154680"/>
            <a:ext cx="41159" cy="17145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35"/>
          <p:cNvSpPr txBox="1"/>
          <p:nvPr/>
        </p:nvSpPr>
        <p:spPr>
          <a:xfrm>
            <a:off x="809455" y="3154680"/>
            <a:ext cx="788875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app/               主程式：分類器、OCR、ROI 偵測、Symbol Table 提取</a:t>
            </a:r>
            <a:endParaRPr sz="1100"/>
          </a:p>
        </p:txBody>
      </p:sp>
      <p:sp>
        <p:nvSpPr>
          <p:cNvPr id="494" name="Google Shape;494;p35"/>
          <p:cNvSpPr txBox="1"/>
          <p:nvPr/>
        </p:nvSpPr>
        <p:spPr>
          <a:xfrm>
            <a:off x="685979" y="3429000"/>
            <a:ext cx="41159" cy="17145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35"/>
          <p:cNvSpPr txBox="1"/>
          <p:nvPr/>
        </p:nvSpPr>
        <p:spPr>
          <a:xfrm>
            <a:off x="809455" y="3429000"/>
            <a:ext cx="788875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claude/            slot-report Skill 安裝指南與完整 SKILL.md 範本</a:t>
            </a:r>
            <a:endParaRPr sz="1100"/>
          </a:p>
        </p:txBody>
      </p:sp>
      <p:sp>
        <p:nvSpPr>
          <p:cNvPr id="496" name="Google Shape;496;p35"/>
          <p:cNvSpPr txBox="1"/>
          <p:nvPr/>
        </p:nvSpPr>
        <p:spPr>
          <a:xfrm>
            <a:off x="685979" y="3703319"/>
            <a:ext cx="41159" cy="17145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35"/>
          <p:cNvSpPr txBox="1"/>
          <p:nvPr/>
        </p:nvSpPr>
        <p:spPr>
          <a:xfrm>
            <a:off x="809455" y="3703319"/>
            <a:ext cx="788875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figma_tools/       Figma plugin（manifest + code.js）與 export 腳本</a:t>
            </a:r>
            <a:endParaRPr sz="1100"/>
          </a:p>
        </p:txBody>
      </p:sp>
      <p:sp>
        <p:nvSpPr>
          <p:cNvPr id="498" name="Google Shape;498;p35"/>
          <p:cNvSpPr txBox="1"/>
          <p:nvPr/>
        </p:nvSpPr>
        <p:spPr>
          <a:xfrm>
            <a:off x="685979" y="3977640"/>
            <a:ext cx="41159" cy="17145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35"/>
          <p:cNvSpPr txBox="1"/>
          <p:nvPr/>
        </p:nvSpPr>
        <p:spPr>
          <a:xfrm>
            <a:off x="809455" y="3977640"/>
            <a:ext cx="788875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docs/              HTML 技術文件（使用教學、環境安裝說明）</a:t>
            </a:r>
            <a:endParaRPr sz="1100"/>
          </a:p>
        </p:txBody>
      </p:sp>
      <p:sp>
        <p:nvSpPr>
          <p:cNvPr id="500" name="Google Shape;500;p35"/>
          <p:cNvSpPr txBox="1"/>
          <p:nvPr/>
        </p:nvSpPr>
        <p:spPr>
          <a:xfrm>
            <a:off x="685979" y="4251959"/>
            <a:ext cx="41159" cy="17145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35"/>
          <p:cNvSpPr txBox="1"/>
          <p:nvPr/>
        </p:nvSpPr>
        <p:spPr>
          <a:xfrm>
            <a:off x="809455" y="4251959"/>
            <a:ext cx="788875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setup_venv.ps1  /  run_classifier.ps1  /  run_figma_export.ps1  /  archive_to_fileserver.ps1</a:t>
            </a:r>
            <a:endParaRPr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36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36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36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36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後續優化方向</a:t>
            </a:r>
            <a:endParaRPr sz="1100"/>
          </a:p>
        </p:txBody>
      </p:sp>
      <p:sp>
        <p:nvSpPr>
          <p:cNvPr id="510" name="Google Shape;510;p36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Future Improvements</a:t>
            </a:r>
            <a:endParaRPr sz="1100"/>
          </a:p>
        </p:txBody>
      </p:sp>
      <p:sp>
        <p:nvSpPr>
          <p:cNvPr id="511" name="Google Shape;511;p36"/>
          <p:cNvSpPr txBox="1"/>
          <p:nvPr/>
        </p:nvSpPr>
        <p:spPr>
          <a:xfrm>
            <a:off x="342989" y="1014984"/>
            <a:ext cx="4047274" cy="181737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36"/>
          <p:cNvSpPr txBox="1"/>
          <p:nvPr/>
        </p:nvSpPr>
        <p:spPr>
          <a:xfrm>
            <a:off x="342989" y="1014984"/>
            <a:ext cx="4047274" cy="397764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36"/>
          <p:cNvSpPr txBox="1"/>
          <p:nvPr/>
        </p:nvSpPr>
        <p:spPr>
          <a:xfrm>
            <a:off x="445886" y="1076706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36"/>
          <p:cNvSpPr txBox="1"/>
          <p:nvPr/>
        </p:nvSpPr>
        <p:spPr>
          <a:xfrm>
            <a:off x="445886" y="1076706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1A73C8"/>
                </a:solidFill>
                <a:latin typeface="Calibri"/>
                <a:ea typeface="Calibri"/>
                <a:cs typeface="Calibri"/>
                <a:sym typeface="Calibri"/>
              </a:rPr>
              <a:t>🎯</a:t>
            </a:r>
            <a:endParaRPr sz="1100"/>
          </a:p>
        </p:txBody>
      </p:sp>
      <p:sp>
        <p:nvSpPr>
          <p:cNvPr id="515" name="Google Shape;515;p36"/>
          <p:cNvSpPr txBox="1"/>
          <p:nvPr/>
        </p:nvSpPr>
        <p:spPr>
          <a:xfrm>
            <a:off x="836894" y="1083564"/>
            <a:ext cx="3443613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Feature 細分偵測</a:t>
            </a:r>
            <a:endParaRPr sz="1100"/>
          </a:p>
        </p:txBody>
      </p:sp>
      <p:sp>
        <p:nvSpPr>
          <p:cNvPr id="516" name="Google Shape;516;p36"/>
          <p:cNvSpPr txBox="1"/>
          <p:nvPr/>
        </p:nvSpPr>
        <p:spPr>
          <a:xfrm>
            <a:off x="493905" y="1508760"/>
            <a:ext cx="3745443" cy="120015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偵測 Feature active / subtype，自動辨識 Free Spins、Bonus、Jackpot 等子類型，提升分類粒度。</a:t>
            </a:r>
            <a:endParaRPr sz="1100"/>
          </a:p>
        </p:txBody>
      </p:sp>
      <p:sp>
        <p:nvSpPr>
          <p:cNvPr id="517" name="Google Shape;517;p36"/>
          <p:cNvSpPr txBox="1"/>
          <p:nvPr/>
        </p:nvSpPr>
        <p:spPr>
          <a:xfrm>
            <a:off x="4753832" y="1014984"/>
            <a:ext cx="4047274" cy="181737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36"/>
          <p:cNvSpPr txBox="1"/>
          <p:nvPr/>
        </p:nvSpPr>
        <p:spPr>
          <a:xfrm>
            <a:off x="4753832" y="1014984"/>
            <a:ext cx="4047274" cy="3977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36"/>
          <p:cNvSpPr txBox="1"/>
          <p:nvPr/>
        </p:nvSpPr>
        <p:spPr>
          <a:xfrm>
            <a:off x="4856729" y="1076706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36"/>
          <p:cNvSpPr txBox="1"/>
          <p:nvPr/>
        </p:nvSpPr>
        <p:spPr>
          <a:xfrm>
            <a:off x="4856729" y="1076706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🎰</a:t>
            </a:r>
            <a:endParaRPr sz="1100"/>
          </a:p>
        </p:txBody>
      </p:sp>
      <p:sp>
        <p:nvSpPr>
          <p:cNvPr id="521" name="Google Shape;521;p36"/>
          <p:cNvSpPr txBox="1"/>
          <p:nvPr/>
        </p:nvSpPr>
        <p:spPr>
          <a:xfrm>
            <a:off x="5247737" y="1083564"/>
            <a:ext cx="3443613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大型 Bonus Game 支援</a:t>
            </a:r>
            <a:endParaRPr sz="1100"/>
          </a:p>
        </p:txBody>
      </p:sp>
      <p:sp>
        <p:nvSpPr>
          <p:cNvPr id="522" name="Google Shape;522;p36"/>
          <p:cNvSpPr txBox="1"/>
          <p:nvPr/>
        </p:nvSpPr>
        <p:spPr>
          <a:xfrm>
            <a:off x="4904747" y="1508760"/>
            <a:ext cx="3745443" cy="120015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針對轉場式 Bonus Game（主介面切換）建立獨立偵測模組，改善主介面切換場景的分類準確率。</a:t>
            </a:r>
            <a:endParaRPr sz="1100"/>
          </a:p>
        </p:txBody>
      </p:sp>
      <p:sp>
        <p:nvSpPr>
          <p:cNvPr id="523" name="Google Shape;523;p36"/>
          <p:cNvSpPr txBox="1"/>
          <p:nvPr/>
        </p:nvSpPr>
        <p:spPr>
          <a:xfrm>
            <a:off x="342989" y="3051809"/>
            <a:ext cx="4047274" cy="181737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36"/>
          <p:cNvSpPr txBox="1"/>
          <p:nvPr/>
        </p:nvSpPr>
        <p:spPr>
          <a:xfrm>
            <a:off x="342989" y="3051809"/>
            <a:ext cx="4047274" cy="3977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36"/>
          <p:cNvSpPr txBox="1"/>
          <p:nvPr/>
        </p:nvSpPr>
        <p:spPr>
          <a:xfrm>
            <a:off x="445886" y="3113531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36"/>
          <p:cNvSpPr txBox="1"/>
          <p:nvPr/>
        </p:nvSpPr>
        <p:spPr>
          <a:xfrm>
            <a:off x="445886" y="3113531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🔤</a:t>
            </a:r>
            <a:endParaRPr sz="1100"/>
          </a:p>
        </p:txBody>
      </p:sp>
      <p:sp>
        <p:nvSpPr>
          <p:cNvPr id="527" name="Google Shape;527;p36"/>
          <p:cNvSpPr txBox="1"/>
          <p:nvPr/>
        </p:nvSpPr>
        <p:spPr>
          <a:xfrm>
            <a:off x="836894" y="3120389"/>
            <a:ext cx="3443613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OCR 辨識率提升</a:t>
            </a:r>
            <a:endParaRPr sz="1100"/>
          </a:p>
        </p:txBody>
      </p:sp>
      <p:sp>
        <p:nvSpPr>
          <p:cNvPr id="528" name="Google Shape;528;p36"/>
          <p:cNvSpPr txBox="1"/>
          <p:nvPr/>
        </p:nvSpPr>
        <p:spPr>
          <a:xfrm>
            <a:off x="493905" y="3545585"/>
            <a:ext cx="3745443" cy="120015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改善中英文混合介面的文字辨識率，優化遊戲標題、數值與符號文字的提取品質。</a:t>
            </a:r>
            <a:endParaRPr sz="1100"/>
          </a:p>
        </p:txBody>
      </p:sp>
      <p:sp>
        <p:nvSpPr>
          <p:cNvPr id="529" name="Google Shape;529;p36"/>
          <p:cNvSpPr txBox="1"/>
          <p:nvPr/>
        </p:nvSpPr>
        <p:spPr>
          <a:xfrm>
            <a:off x="4753832" y="3051809"/>
            <a:ext cx="4047274" cy="181737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36"/>
          <p:cNvSpPr txBox="1"/>
          <p:nvPr/>
        </p:nvSpPr>
        <p:spPr>
          <a:xfrm>
            <a:off x="4753832" y="3051809"/>
            <a:ext cx="4047274" cy="3977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36"/>
          <p:cNvSpPr txBox="1"/>
          <p:nvPr/>
        </p:nvSpPr>
        <p:spPr>
          <a:xfrm>
            <a:off x="4856729" y="3113531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36"/>
          <p:cNvSpPr txBox="1"/>
          <p:nvPr/>
        </p:nvSpPr>
        <p:spPr>
          <a:xfrm>
            <a:off x="4856729" y="3113531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E86A17"/>
                </a:solidFill>
                <a:latin typeface="Calibri"/>
                <a:ea typeface="Calibri"/>
                <a:cs typeface="Calibri"/>
                <a:sym typeface="Calibri"/>
              </a:rPr>
              <a:t>📦</a:t>
            </a:r>
            <a:endParaRPr sz="1100"/>
          </a:p>
        </p:txBody>
      </p:sp>
      <p:sp>
        <p:nvSpPr>
          <p:cNvPr id="533" name="Google Shape;533;p36"/>
          <p:cNvSpPr txBox="1"/>
          <p:nvPr/>
        </p:nvSpPr>
        <p:spPr>
          <a:xfrm>
            <a:off x="5247737" y="3120389"/>
            <a:ext cx="3443613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資料管理強化</a:t>
            </a:r>
            <a:endParaRPr sz="1100"/>
          </a:p>
        </p:txBody>
      </p:sp>
      <p:sp>
        <p:nvSpPr>
          <p:cNvPr id="534" name="Google Shape;534;p36"/>
          <p:cNvSpPr txBox="1"/>
          <p:nvPr/>
        </p:nvSpPr>
        <p:spPr>
          <a:xfrm>
            <a:off x="4904747" y="3545585"/>
            <a:ext cx="3745443" cy="120015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建立競品遊戲資料庫索引、Fileserver manifest、版本控管，以及定期自動比對與更新機制。</a:t>
            </a:r>
            <a:endParaRPr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