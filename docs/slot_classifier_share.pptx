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20040" y="6035040"/>
            <a:ext cx="11868912" cy="82296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515600" cy="137160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Slot Classifier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3474720" cy="6858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10058400" cy="59436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2200" b="0" i="0">
                <a:solidFill>
                  <a:srgbClr val="FCA311"/>
                </a:solidFill>
                <a:latin typeface="Calibri"/>
              </a:rPr>
              <a:t>競品影片自動分析工具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20440"/>
            <a:ext cx="10058400" cy="4114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300" b="0" i="0">
                <a:solidFill>
                  <a:srgbClr val="AABBCC"/>
                </a:solidFill>
                <a:latin typeface="Calibri"/>
              </a:rPr>
              <a:t>自動截圖分類  ·  競品報告生成  ·  Figma Board  ·  Fileserver 備份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00" b="0" i="0">
                <a:solidFill>
                  <a:srgbClr val="778899"/>
                </a:solidFill>
                <a:latin typeface="Calibri"/>
              </a:rPr>
              <a:t>內部分享  ·  2026  ·  PG / Slot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77272" y="201168"/>
            <a:ext cx="1554480" cy="36576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195560" y="219456"/>
            <a:ext cx="1517904" cy="329184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300" b="1" i="0">
                <a:solidFill>
                  <a:srgbClr val="14213D"/>
                </a:solidFill>
                <a:latin typeface="Calibri"/>
              </a:rPr>
              <a:t>v 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1097280"/>
            <a:ext cx="12188952" cy="50292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1274552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工具目的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85800"/>
            <a:ext cx="11274552" cy="36576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0" i="0">
                <a:solidFill>
                  <a:srgbClr val="FCA311"/>
                </a:solidFill>
                <a:latin typeface="Calibri"/>
              </a:rPr>
              <a:t>為什麼需要 Slot Classifier？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1124712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64008" cy="1417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810512"/>
            <a:ext cx="502920" cy="5029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517904"/>
            <a:ext cx="9692640" cy="38404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500" b="1" i="0">
                <a:solidFill>
                  <a:srgbClr val="14213D"/>
                </a:solidFill>
                <a:latin typeface="Calibri"/>
              </a:rPr>
              <a:t>自動化截圖分類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947672"/>
            <a:ext cx="9692640" cy="73152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50" b="0" i="0">
                <a:solidFill>
                  <a:srgbClr val="2D2D2D"/>
                </a:solidFill>
                <a:latin typeface="Calibri"/>
              </a:rPr>
              <a:t>從競品影片自動擷取關鍵幀，分類為 Loading、Basegame、Transition、Feature、BigWin、Result 六大類別，省去人工逐幀整理。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53512"/>
            <a:ext cx="1124712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200" y="2953512"/>
            <a:ext cx="64008" cy="141732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85800" y="3410712"/>
            <a:ext cx="502920" cy="50292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118104"/>
            <a:ext cx="9692640" cy="38404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500" b="1" i="0">
                <a:solidFill>
                  <a:srgbClr val="14213D"/>
                </a:solidFill>
                <a:latin typeface="Calibri"/>
              </a:rPr>
              <a:t>輸出標準化競品資料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547872"/>
            <a:ext cx="9692640" cy="73152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50" b="0" i="0">
                <a:solidFill>
                  <a:srgbClr val="2D2D2D"/>
                </a:solidFill>
                <a:latin typeface="Calibri"/>
              </a:rPr>
              <a:t>每款遊戲生成分類截圖資料夾、CSV 統計表、HTML 競品分析報告，格式一致，可直接用於設計參考與策劃文件。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553712"/>
            <a:ext cx="1124712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" y="4553712"/>
            <a:ext cx="64008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85800" y="5010912"/>
            <a:ext cx="502920" cy="5029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718304"/>
            <a:ext cx="9692640" cy="38404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500" b="1" i="0">
                <a:solidFill>
                  <a:srgbClr val="14213D"/>
                </a:solidFill>
                <a:latin typeface="Calibri"/>
              </a:rPr>
              <a:t>整合 Figma 與 Fileserver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148072"/>
            <a:ext cx="9692640" cy="73152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50" b="0" i="0">
                <a:solidFill>
                  <a:srgbClr val="2D2D2D"/>
                </a:solidFill>
                <a:latin typeface="Calibri"/>
              </a:rPr>
              <a:t>一鍵匯出 Figma Research Board，並自動備份至公司 Fileserver（AI_survey 資料夾），建立可查詢的競品資料庫。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1097280"/>
            <a:ext cx="12188952" cy="50292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1274552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輸入與輸出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85800"/>
            <a:ext cx="11274552" cy="36576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0" i="0">
                <a:solidFill>
                  <a:srgbClr val="FCA311"/>
                </a:solidFill>
                <a:latin typeface="Calibri"/>
              </a:rPr>
              <a:t>Input /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120640" cy="53035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120640" cy="502920"/>
          </a:xfrm>
          <a:prstGeom prst="rect">
            <a:avLst/>
          </a:prstGeom>
          <a:solidFill>
            <a:srgbClr val="1E345C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325880"/>
            <a:ext cx="4663440" cy="4114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500" b="1" i="0">
                <a:solidFill>
                  <a:srgbClr val="FCA311"/>
                </a:solidFill>
                <a:latin typeface="Calibri"/>
              </a:rPr>
              <a:t>INPUT  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01952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00" b="1" i="0">
                <a:solidFill>
                  <a:srgbClr val="E8F4FD"/>
                </a:solidFill>
                <a:latin typeface="Consolas"/>
              </a:rPr>
              <a:t>project/input_videos/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68880"/>
            <a:ext cx="64008" cy="256032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2377440"/>
            <a:ext cx="4480560" cy="4114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競品遊戲影片（.mp4 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090672"/>
            <a:ext cx="64008" cy="256032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8680" y="2999232"/>
            <a:ext cx="4480560" cy="4114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支援多款遊戲一次批次處理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712463"/>
            <a:ext cx="64008" cy="256032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8680" y="3621024"/>
            <a:ext cx="4480560" cy="4114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可搭配自動 ROI 偵測（直/橫式畫面）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34256"/>
            <a:ext cx="64008" cy="256032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68680" y="4242816"/>
            <a:ext cx="4480560" cy="4114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可指定 GameName 自訂輸出資料夾名稱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474720"/>
            <a:ext cx="594360" cy="73152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2800" b="1" i="0">
                <a:solidFill>
                  <a:srgbClr val="FCA311"/>
                </a:solidFill>
                <a:latin typeface="Calibri"/>
              </a:rPr>
              <a:t>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1280160"/>
            <a:ext cx="5120640" cy="53035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83680" y="1280160"/>
            <a:ext cx="5120640" cy="50292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12280" y="1325880"/>
            <a:ext cx="4663440" cy="4114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OUTPUT  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1920240"/>
            <a:ext cx="384048" cy="384048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75120" y="1920240"/>
            <a:ext cx="384048" cy="384048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05472" y="1929384"/>
            <a:ext cx="4297680" cy="25603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50" b="1" i="0">
                <a:solidFill>
                  <a:srgbClr val="14213D"/>
                </a:solidFill>
                <a:latin typeface="Calibri"/>
              </a:rPr>
              <a:t>截圖分類資料夾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05472" y="2194560"/>
            <a:ext cx="4297680" cy="25603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00" b="0" i="0">
                <a:solidFill>
                  <a:srgbClr val="778899"/>
                </a:solidFill>
                <a:latin typeface="Calibri"/>
              </a:rPr>
              <a:t>Loading / Basegame / Feature / BigWin…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2788920"/>
            <a:ext cx="384048" cy="384048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675120" y="2788920"/>
            <a:ext cx="384048" cy="384048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5472" y="2798063"/>
            <a:ext cx="4297680" cy="25603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50" b="1" i="0">
                <a:solidFill>
                  <a:srgbClr val="14213D"/>
                </a:solidFill>
                <a:latin typeface="Calibri"/>
              </a:rPr>
              <a:t>classification_result.csv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05472" y="3063239"/>
            <a:ext cx="4297680" cy="25603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00" b="0" i="0">
                <a:solidFill>
                  <a:srgbClr val="778899"/>
                </a:solidFill>
                <a:latin typeface="Calibri"/>
              </a:rPr>
              <a:t>每幀分類標籤與信心值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657600"/>
            <a:ext cx="384048" cy="3840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675120" y="3657600"/>
            <a:ext cx="384048" cy="3840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05472" y="3666744"/>
            <a:ext cx="4297680" cy="25603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50" b="1" i="0">
                <a:solidFill>
                  <a:srgbClr val="14213D"/>
                </a:solidFill>
                <a:latin typeface="Calibri"/>
              </a:rPr>
              <a:t>report.html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05472" y="3931920"/>
            <a:ext cx="4297680" cy="25603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00" b="0" i="0">
                <a:solidFill>
                  <a:srgbClr val="778899"/>
                </a:solidFill>
                <a:latin typeface="Calibri"/>
              </a:rPr>
              <a:t>Claude 生成競品分析報告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526279"/>
            <a:ext cx="384048" cy="3840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675120" y="4526279"/>
            <a:ext cx="384048" cy="3840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05472" y="4535423"/>
            <a:ext cx="4297680" cy="25603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50" b="1" i="0">
                <a:solidFill>
                  <a:srgbClr val="14213D"/>
                </a:solidFill>
                <a:latin typeface="Calibri"/>
              </a:rPr>
              <a:t>figma_export/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05472" y="4800599"/>
            <a:ext cx="4297680" cy="25603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00" b="0" i="0">
                <a:solidFill>
                  <a:srgbClr val="778899"/>
                </a:solidFill>
                <a:latin typeface="Calibri"/>
              </a:rPr>
              <a:t>Figma Research Board 匯入包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394960"/>
            <a:ext cx="384048" cy="384048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675120" y="5394960"/>
            <a:ext cx="384048" cy="384048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05472" y="5404104"/>
            <a:ext cx="4297680" cy="25603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50" b="1" i="0">
                <a:solidFill>
                  <a:srgbClr val="14213D"/>
                </a:solidFill>
                <a:latin typeface="Calibri"/>
              </a:rPr>
              <a:t>Fileserver 備份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05472" y="5669280"/>
            <a:ext cx="4297680" cy="25603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00" b="0" i="0">
                <a:solidFill>
                  <a:srgbClr val="778899"/>
                </a:solidFill>
                <a:latin typeface="Calibri"/>
              </a:rPr>
              <a:t>AI_survey 資料夾標準備份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1097280"/>
            <a:ext cx="12188952" cy="50292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1274552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整體流程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85800"/>
            <a:ext cx="11274552" cy="36576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0" i="0">
                <a:solidFill>
                  <a:srgbClr val="FCA311"/>
                </a:solidFill>
                <a:latin typeface="Calibri"/>
              </a:rPr>
              <a:t>End-to-End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8347" y="1371600"/>
            <a:ext cx="2606040" cy="34747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98347" y="1371600"/>
            <a:ext cx="2606040" cy="566928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5508" y="1463040"/>
            <a:ext cx="438912" cy="4114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" y="1444752"/>
            <a:ext cx="1965960" cy="43891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輸入競品影片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" y="2240280"/>
            <a:ext cx="54864" cy="201168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09827" y="2148840"/>
            <a:ext cx="2057400" cy="38404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50" b="0" i="0">
                <a:solidFill>
                  <a:srgbClr val="2D2D2D"/>
                </a:solidFill>
                <a:latin typeface="Calibri"/>
              </a:rPr>
              <a:t>放入 project/input_videos/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" y="2743200"/>
            <a:ext cx="54864" cy="201168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09827" y="2651760"/>
            <a:ext cx="2057400" cy="38404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50" b="0" i="0">
                <a:solidFill>
                  <a:srgbClr val="2D2D2D"/>
                </a:solidFill>
                <a:latin typeface="Calibri"/>
              </a:rPr>
              <a:t>支援批次多款遊戲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" y="3246120"/>
            <a:ext cx="54864" cy="201168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9827" y="3154680"/>
            <a:ext cx="2057400" cy="38404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50" b="0" i="0">
                <a:solidFill>
                  <a:srgbClr val="2D2D2D"/>
                </a:solidFill>
                <a:latin typeface="Calibri"/>
              </a:rPr>
              <a:t>自動偵測 ROI 區域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0964" y="3474720"/>
            <a:ext cx="201168" cy="45720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400" b="1" i="0">
                <a:solidFill>
                  <a:srgbClr val="FCA311"/>
                </a:solidFill>
                <a:latin typeface="Calibri"/>
              </a:rPr>
              <a:t>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0420" y="1371600"/>
            <a:ext cx="2606040" cy="34747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360420" y="1371600"/>
            <a:ext cx="2606040" cy="5669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97579" y="1463040"/>
            <a:ext cx="438912" cy="4114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63339" y="1444752"/>
            <a:ext cx="1965960" cy="43891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主程式截圖分類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6452" y="2240280"/>
            <a:ext cx="54864" cy="2011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771900" y="2148840"/>
            <a:ext cx="2057400" cy="38404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50" b="0" i="0">
                <a:solidFill>
                  <a:srgbClr val="2D2D2D"/>
                </a:solidFill>
                <a:latin typeface="Calibri"/>
              </a:rPr>
              <a:t>run_classifier.ps1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6452" y="2743200"/>
            <a:ext cx="54864" cy="2011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771900" y="2651760"/>
            <a:ext cx="2057400" cy="38404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50" b="0" i="0">
                <a:solidFill>
                  <a:srgbClr val="2D2D2D"/>
                </a:solidFill>
                <a:latin typeface="Calibri"/>
              </a:rPr>
              <a:t>OCR + 場景變化偵測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6452" y="3246120"/>
            <a:ext cx="54864" cy="2011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771900" y="3154680"/>
            <a:ext cx="2057400" cy="38404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50" b="0" i="0">
                <a:solidFill>
                  <a:srgbClr val="2D2D2D"/>
                </a:solidFill>
                <a:latin typeface="Calibri"/>
              </a:rPr>
              <a:t>輸出分類截圖 + CSV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03036" y="3474720"/>
            <a:ext cx="201168" cy="45720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400" b="1" i="0">
                <a:solidFill>
                  <a:srgbClr val="FCA311"/>
                </a:solidFill>
                <a:latin typeface="Calibri"/>
              </a:rPr>
              <a:t>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22492" y="1371600"/>
            <a:ext cx="2606040" cy="34747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22492" y="1371600"/>
            <a:ext cx="2606040" cy="566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59652" y="1463040"/>
            <a:ext cx="438912" cy="4114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5412" y="1444752"/>
            <a:ext cx="1965960" cy="43891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Claude Skill 生成報告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8524" y="2240280"/>
            <a:ext cx="54864" cy="2011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633972" y="2148840"/>
            <a:ext cx="2057400" cy="38404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50" b="0" i="0">
                <a:solidFill>
                  <a:srgbClr val="2D2D2D"/>
                </a:solidFill>
                <a:latin typeface="Calibri"/>
              </a:rPr>
              <a:t>slot-report skill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8524" y="2743200"/>
            <a:ext cx="54864" cy="2011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633972" y="2651760"/>
            <a:ext cx="2057400" cy="38404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50" b="0" i="0">
                <a:solidFill>
                  <a:srgbClr val="2D2D2D"/>
                </a:solidFill>
                <a:latin typeface="Calibri"/>
              </a:rPr>
              <a:t>生成 report.html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8524" y="3246120"/>
            <a:ext cx="54864" cy="2011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633972" y="3154680"/>
            <a:ext cx="2057400" cy="38404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50" b="0" i="0">
                <a:solidFill>
                  <a:srgbClr val="2D2D2D"/>
                </a:solidFill>
                <a:latin typeface="Calibri"/>
              </a:rPr>
              <a:t>符號表 + 玩法說明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5107" y="3474720"/>
            <a:ext cx="201168" cy="45720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400" b="1" i="0">
                <a:solidFill>
                  <a:srgbClr val="FCA311"/>
                </a:solidFill>
                <a:latin typeface="Calibri"/>
              </a:rPr>
              <a:t>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84564" y="1371600"/>
            <a:ext cx="2606040" cy="34747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084564" y="1371600"/>
            <a:ext cx="2606040" cy="566928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221724" y="1463040"/>
            <a:ext cx="438912" cy="4114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87484" y="1444752"/>
            <a:ext cx="1965960" cy="43891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備份 / 輸出 Figma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0596" y="2240280"/>
            <a:ext cx="54864" cy="201168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9496044" y="2148840"/>
            <a:ext cx="2057400" cy="38404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50" b="0" i="0">
                <a:solidFill>
                  <a:srgbClr val="2D2D2D"/>
                </a:solidFill>
                <a:latin typeface="Calibri"/>
              </a:rPr>
              <a:t>archive_to_fileserver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40596" y="2743200"/>
            <a:ext cx="54864" cy="201168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9496044" y="2651760"/>
            <a:ext cx="2057400" cy="38404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50" b="0" i="0">
                <a:solidFill>
                  <a:srgbClr val="2D2D2D"/>
                </a:solidFill>
                <a:latin typeface="Calibri"/>
              </a:rPr>
              <a:t>run_figma_export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40596" y="3246120"/>
            <a:ext cx="54864" cy="201168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496044" y="3154680"/>
            <a:ext cx="2057400" cy="38404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50" b="0" i="0">
                <a:solidFill>
                  <a:srgbClr val="2D2D2D"/>
                </a:solidFill>
                <a:latin typeface="Calibri"/>
              </a:rPr>
              <a:t>Figma Board 匯入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446520"/>
            <a:ext cx="11274552" cy="292608"/>
          </a:xfrm>
          <a:prstGeom prst="rect">
            <a:avLst/>
          </a:prstGeom>
          <a:solidFill>
            <a:srgbClr val="FFEFCC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40080" y="6464808"/>
            <a:ext cx="10908792" cy="25603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00" b="0" i="0">
                <a:solidFill>
                  <a:srgbClr val="805000"/>
                </a:solidFill>
                <a:latin typeface="Calibri"/>
              </a:rPr>
              <a:t>⚠  每個步驟均有對應的 PowerShell 腳本，可單獨執行，也可依需求彈性組合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4572000" cy="182880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000" b="1" i="0">
                <a:solidFill>
                  <a:srgbClr val="1E325C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如何使用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2000" b="0" i="0">
                <a:solidFill>
                  <a:srgbClr val="FCA311"/>
                </a:solidFill>
                <a:latin typeface="Calibri"/>
              </a:rPr>
              <a:t>How to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09744"/>
            <a:ext cx="201168" cy="201168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809744"/>
            <a:ext cx="201168" cy="201168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800" b="1" i="0">
                <a:solidFill>
                  <a:srgbClr val="14213D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75488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4.1  環境架設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809744"/>
            <a:ext cx="201168" cy="201168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480560" y="4809744"/>
            <a:ext cx="201168" cy="201168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800" b="1" i="0">
                <a:solidFill>
                  <a:srgbClr val="14213D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475488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4.2  主程式使用方式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809744"/>
            <a:ext cx="201168" cy="201168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0" y="4809744"/>
            <a:ext cx="201168" cy="201168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800" b="1" i="0">
                <a:solidFill>
                  <a:srgbClr val="14213D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75488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4.3  Claude Skill 建立與呼叫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0096"/>
            <a:ext cx="201168" cy="201168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5340096"/>
            <a:ext cx="201168" cy="201168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800" b="1" i="0">
                <a:solidFill>
                  <a:srgbClr val="14213D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285232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4.4  Figma Board 匯入方式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5340096"/>
            <a:ext cx="201168" cy="201168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480560" y="5340096"/>
            <a:ext cx="201168" cy="201168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800" b="1" i="0">
                <a:solidFill>
                  <a:srgbClr val="14213D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5285232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4.5  備份至 Fileserver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1097280"/>
            <a:ext cx="12188952" cy="50292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1274552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環境架設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85800"/>
            <a:ext cx="11274552" cy="36576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0" i="0">
                <a:solidFill>
                  <a:srgbClr val="FCA311"/>
                </a:solidFill>
                <a:latin typeface="Calibri"/>
              </a:rPr>
              <a:t>Environment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68712" y="109728"/>
            <a:ext cx="1737360" cy="347472"/>
          </a:xfrm>
          <a:prstGeom prst="rect">
            <a:avLst/>
          </a:prstGeom>
          <a:solidFill>
            <a:srgbClr val="E8F4FD"/>
          </a:solidFill>
          <a:ln w="12700">
            <a:solidFill>
              <a:srgbClr val="BBD6F2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287000" y="128016"/>
            <a:ext cx="1700784" cy="31089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900" b="0" i="0">
                <a:solidFill>
                  <a:srgbClr val="1A73C8"/>
                </a:solidFill>
                <a:latin typeface="Calibri"/>
              </a:rPr>
              <a:t>4.1  環境架設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02920" cy="5029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71600"/>
            <a:ext cx="10058400" cy="4114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600" b="1" i="0">
                <a:solidFill>
                  <a:srgbClr val="14213D"/>
                </a:solidFill>
                <a:latin typeface="Calibri"/>
              </a:rPr>
              <a:t>建立虛擬環境並安裝套件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837943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50" b="0" i="0">
                <a:solidFill>
                  <a:srgbClr val="2D2D2D"/>
                </a:solidFill>
                <a:latin typeface="Calibri"/>
              </a:rPr>
              <a:t>自動建立 .venv 並安裝 numpy、opencv、paddleocr 等相依套件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258568"/>
            <a:ext cx="5943600" cy="438912"/>
          </a:xfrm>
          <a:prstGeom prst="rect">
            <a:avLst/>
          </a:prstGeom>
          <a:solidFill>
            <a:srgbClr val="E8F4FD"/>
          </a:solidFill>
          <a:ln w="6350">
            <a:solidFill>
              <a:srgbClr val="BBD6F2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80160" y="2322575"/>
            <a:ext cx="5614416" cy="31089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00" b="0" i="0">
                <a:solidFill>
                  <a:srgbClr val="0E3A6E"/>
                </a:solidFill>
                <a:latin typeface="Consolas"/>
              </a:rPr>
              <a:t>PS&gt;  .\setup_venv.ps1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34639"/>
            <a:ext cx="11274552" cy="16459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7200" y="2999232"/>
            <a:ext cx="502920" cy="50292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2999232"/>
            <a:ext cx="10058400" cy="4114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600" b="1" i="0">
                <a:solidFill>
                  <a:srgbClr val="14213D"/>
                </a:solidFill>
                <a:latin typeface="Calibri"/>
              </a:rPr>
              <a:t>確認環境正常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3465576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50" b="0" i="0">
                <a:solidFill>
                  <a:srgbClr val="2D2D2D"/>
                </a:solidFill>
                <a:latin typeface="Calibri"/>
              </a:rPr>
              <a:t>執行環境檢查，確認所有套件版本與相依性無誤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3886200"/>
            <a:ext cx="5943600" cy="438912"/>
          </a:xfrm>
          <a:prstGeom prst="rect">
            <a:avLst/>
          </a:prstGeom>
          <a:solidFill>
            <a:srgbClr val="E8F4FD"/>
          </a:solidFill>
          <a:ln w="6350">
            <a:solidFill>
              <a:srgbClr val="BBD6F2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80160" y="3950208"/>
            <a:ext cx="5614416" cy="31089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00" b="0" i="0">
                <a:solidFill>
                  <a:srgbClr val="0E3A6E"/>
                </a:solidFill>
                <a:latin typeface="Consolas"/>
              </a:rPr>
              <a:t>PS&gt;  .\check_environment.ps1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462272"/>
            <a:ext cx="11274552" cy="16459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200" y="4626864"/>
            <a:ext cx="502920" cy="5029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4626864"/>
            <a:ext cx="10058400" cy="4114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600" b="1" i="0">
                <a:solidFill>
                  <a:srgbClr val="14213D"/>
                </a:solidFill>
                <a:latin typeface="Calibri"/>
              </a:rPr>
              <a:t>首次執行自動下載 OCR 模型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509320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50" b="0" i="0">
                <a:solidFill>
                  <a:srgbClr val="2D2D2D"/>
                </a:solidFill>
                <a:latin typeface="Calibri"/>
              </a:rPr>
              <a:t>PaddleOCR 模型約 50MB，首次執行時自動下載，需確保網路連線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2651760"/>
            <a:ext cx="3017520" cy="3200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778240" y="274320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00" b="1" i="0">
                <a:solidFill>
                  <a:srgbClr val="14213D"/>
                </a:solidFill>
                <a:latin typeface="Consolas"/>
              </a:rPr>
              <a:t>requirements.txt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127248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950" b="0" i="0">
                <a:solidFill>
                  <a:srgbClr val="0E3A6E"/>
                </a:solidFill>
                <a:latin typeface="Consolas"/>
              </a:rPr>
              <a:t>numpy==1.26.4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3602736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950" b="0" i="0">
                <a:solidFill>
                  <a:srgbClr val="0E3A6E"/>
                </a:solidFill>
                <a:latin typeface="Consolas"/>
              </a:rPr>
              <a:t>opencv-python==4.6.0.66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3960" y="4078224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950" b="0" i="0">
                <a:solidFill>
                  <a:srgbClr val="0E3A6E"/>
                </a:solidFill>
                <a:latin typeface="Consolas"/>
              </a:rPr>
              <a:t>paddlepaddle==2.6.2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60" y="4553712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950" b="0" i="0">
                <a:solidFill>
                  <a:srgbClr val="0E3A6E"/>
                </a:solidFill>
                <a:latin typeface="Consolas"/>
              </a:rPr>
              <a:t>paddleocr==2.7.3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1097280"/>
            <a:ext cx="12188952" cy="50292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1274552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主程式使用方式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85800"/>
            <a:ext cx="11274552" cy="36576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0" i="0">
                <a:solidFill>
                  <a:srgbClr val="FCA311"/>
                </a:solidFill>
                <a:latin typeface="Calibri"/>
              </a:rPr>
              <a:t>Running the Classifier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68712" y="109728"/>
            <a:ext cx="1737360" cy="347472"/>
          </a:xfrm>
          <a:prstGeom prst="rect">
            <a:avLst/>
          </a:prstGeom>
          <a:solidFill>
            <a:srgbClr val="E8F4FD"/>
          </a:solidFill>
          <a:ln w="12700">
            <a:solidFill>
              <a:srgbClr val="BBD6F2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287000" y="128016"/>
            <a:ext cx="1700784" cy="31089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900" b="0" i="0">
                <a:solidFill>
                  <a:srgbClr val="1A73C8"/>
                </a:solidFill>
                <a:latin typeface="Calibri"/>
              </a:rPr>
              <a:t>4.2  主程式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02920" cy="50292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71600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600" b="1" i="0">
                <a:solidFill>
                  <a:srgbClr val="14213D"/>
                </a:solidFill>
                <a:latin typeface="Calibri"/>
              </a:rPr>
              <a:t>放入影片檔案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837943"/>
            <a:ext cx="7772400" cy="34747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50" b="0" i="0">
                <a:solidFill>
                  <a:srgbClr val="2D2D2D"/>
                </a:solidFill>
                <a:latin typeface="Calibri"/>
              </a:rPr>
              <a:t>將競品遊戲影片（.mp4）放入以下資料夾，支援多個影片一次處理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258568"/>
            <a:ext cx="6400800" cy="438912"/>
          </a:xfrm>
          <a:prstGeom prst="rect">
            <a:avLst/>
          </a:prstGeom>
          <a:solidFill>
            <a:srgbClr val="E8F4FD"/>
          </a:solidFill>
          <a:ln w="6350">
            <a:solidFill>
              <a:srgbClr val="BBD6F2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80160" y="2322575"/>
            <a:ext cx="6071616" cy="31089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00" b="0" i="0">
                <a:solidFill>
                  <a:srgbClr val="0E3A6E"/>
                </a:solidFill>
                <a:latin typeface="Consolas"/>
              </a:rPr>
              <a:t>project\input_videos\GameName.mp4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34639"/>
            <a:ext cx="11274552" cy="16459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7200" y="2999232"/>
            <a:ext cx="502920" cy="5029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2999232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600" b="1" i="0">
                <a:solidFill>
                  <a:srgbClr val="14213D"/>
                </a:solidFill>
                <a:latin typeface="Calibri"/>
              </a:rPr>
              <a:t>執行分類主程式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3465576"/>
            <a:ext cx="7772400" cy="34747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50" b="0" i="0">
                <a:solidFill>
                  <a:srgbClr val="2D2D2D"/>
                </a:solidFill>
                <a:latin typeface="Calibri"/>
              </a:rPr>
              <a:t>PowerShell 腳本會啟動虛擬環境並自動執行所有影片的分類作業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3886200"/>
            <a:ext cx="6400800" cy="438912"/>
          </a:xfrm>
          <a:prstGeom prst="rect">
            <a:avLst/>
          </a:prstGeom>
          <a:solidFill>
            <a:srgbClr val="E8F4FD"/>
          </a:solidFill>
          <a:ln w="6350">
            <a:solidFill>
              <a:srgbClr val="BBD6F2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80160" y="3950208"/>
            <a:ext cx="6071616" cy="31089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00" b="0" i="0">
                <a:solidFill>
                  <a:srgbClr val="0E3A6E"/>
                </a:solidFill>
                <a:latin typeface="Consolas"/>
              </a:rPr>
              <a:t>.\run_classifier.ps1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462272"/>
            <a:ext cx="11274552" cy="16459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200" y="4626864"/>
            <a:ext cx="502920" cy="502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4626864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600" b="1" i="0">
                <a:solidFill>
                  <a:srgbClr val="14213D"/>
                </a:solidFill>
                <a:latin typeface="Calibri"/>
              </a:rPr>
              <a:t>確認輸出結果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5093208"/>
            <a:ext cx="7772400" cy="34747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50" b="0" i="0">
                <a:solidFill>
                  <a:srgbClr val="2D2D2D"/>
                </a:solidFill>
                <a:latin typeface="Calibri"/>
              </a:rPr>
              <a:t>每款遊戲獨立資料夾，包含分類截圖、CSV 統計表與低信心值截圖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5513831"/>
            <a:ext cx="6400800" cy="438912"/>
          </a:xfrm>
          <a:prstGeom prst="rect">
            <a:avLst/>
          </a:prstGeom>
          <a:solidFill>
            <a:srgbClr val="E8F4FD"/>
          </a:solidFill>
          <a:ln w="6350">
            <a:solidFill>
              <a:srgbClr val="BBD6F2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80160" y="5577840"/>
            <a:ext cx="6071616" cy="31089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00" b="0" i="0">
                <a:solidFill>
                  <a:srgbClr val="0E3A6E"/>
                </a:solidFill>
                <a:latin typeface="Consolas"/>
              </a:rPr>
              <a:t>project\output\GameName\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1298448"/>
            <a:ext cx="2514600" cy="53035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0" y="1389888"/>
            <a:ext cx="2331720" cy="32004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00" b="1" i="0">
                <a:solidFill>
                  <a:srgbClr val="14213D"/>
                </a:solidFill>
                <a:latin typeface="Calibri"/>
              </a:rPr>
              <a:t>輸出結構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1792224"/>
            <a:ext cx="2331720" cy="40233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850" b="0" i="0">
                <a:solidFill>
                  <a:srgbClr val="2D2D2D"/>
                </a:solidFill>
                <a:latin typeface="Consolas"/>
              </a:rPr>
              <a:t>GameName/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2212848"/>
            <a:ext cx="2331720" cy="40233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850" b="0" i="0">
                <a:solidFill>
                  <a:srgbClr val="2D2D2D"/>
                </a:solidFill>
                <a:latin typeface="Consolas"/>
              </a:rPr>
              <a:t>  ├ Loading/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2633472"/>
            <a:ext cx="2331720" cy="40233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850" b="0" i="0">
                <a:solidFill>
                  <a:srgbClr val="2D2D2D"/>
                </a:solidFill>
                <a:latin typeface="Consolas"/>
              </a:rPr>
              <a:t>  ├ Basegame/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3054096"/>
            <a:ext cx="2331720" cy="40233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850" b="0" i="0">
                <a:solidFill>
                  <a:srgbClr val="2D2D2D"/>
                </a:solidFill>
                <a:latin typeface="Consolas"/>
              </a:rPr>
              <a:t>  ├ Transition/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3474720"/>
            <a:ext cx="2331720" cy="40233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850" b="0" i="0">
                <a:solidFill>
                  <a:srgbClr val="2D2D2D"/>
                </a:solidFill>
                <a:latin typeface="Consolas"/>
              </a:rPr>
              <a:t>  ├ Feature game/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895344"/>
            <a:ext cx="2331720" cy="40233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850" b="0" i="0">
                <a:solidFill>
                  <a:srgbClr val="2D2D2D"/>
                </a:solidFill>
                <a:latin typeface="Consolas"/>
              </a:rPr>
              <a:t>  ├ BigWin/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0" y="4315968"/>
            <a:ext cx="2331720" cy="40233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850" b="0" i="0">
                <a:solidFill>
                  <a:srgbClr val="2D2D2D"/>
                </a:solidFill>
                <a:latin typeface="Consolas"/>
              </a:rPr>
              <a:t>  ├ Result/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4736592"/>
            <a:ext cx="2331720" cy="40233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850" b="0" i="0">
                <a:solidFill>
                  <a:srgbClr val="2D2D2D"/>
                </a:solidFill>
                <a:latin typeface="Consolas"/>
              </a:rPr>
              <a:t>  ├ low_score/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5157216"/>
            <a:ext cx="2331720" cy="40233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850" b="0" i="0">
                <a:solidFill>
                  <a:srgbClr val="2D2D2D"/>
                </a:solidFill>
                <a:latin typeface="Consolas"/>
              </a:rPr>
              <a:t>  ├ cls_result.csv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577840"/>
            <a:ext cx="2331720" cy="40233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850" b="0" i="0">
                <a:solidFill>
                  <a:srgbClr val="2D2D2D"/>
                </a:solidFill>
                <a:latin typeface="Consolas"/>
              </a:rPr>
              <a:t>  └ report.html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1097280"/>
            <a:ext cx="12188952" cy="50292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1274552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Claude Skill — 競品報告生成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85800"/>
            <a:ext cx="11274552" cy="36576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0" i="0">
                <a:solidFill>
                  <a:srgbClr val="FCA311"/>
                </a:solidFill>
                <a:latin typeface="Calibri"/>
              </a:rPr>
              <a:t>Creating &amp; Calling the slot-report Skill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68712" y="109728"/>
            <a:ext cx="1737360" cy="347472"/>
          </a:xfrm>
          <a:prstGeom prst="rect">
            <a:avLst/>
          </a:prstGeom>
          <a:solidFill>
            <a:srgbClr val="E8F4FD"/>
          </a:solidFill>
          <a:ln w="12700">
            <a:solidFill>
              <a:srgbClr val="BBD6F2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287000" y="128016"/>
            <a:ext cx="1700784" cy="31089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900" b="0" i="0">
                <a:solidFill>
                  <a:srgbClr val="1A73C8"/>
                </a:solidFill>
                <a:latin typeface="Calibri"/>
              </a:rPr>
              <a:t>4.3  Claude Skill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98448"/>
            <a:ext cx="5394960" cy="5285232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7200" y="1298448"/>
            <a:ext cx="5394960" cy="475488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8368" y="1353312"/>
            <a:ext cx="4937760" cy="38404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安裝 Skill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20240"/>
            <a:ext cx="365760" cy="36576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1920240"/>
            <a:ext cx="365760" cy="36576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300" b="1" i="0">
                <a:solidFill>
                  <a:srgbClr val="14213D"/>
                </a:solidFill>
                <a:latin typeface="Calibri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920240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1" i="0">
                <a:solidFill>
                  <a:srgbClr val="14213D"/>
                </a:solidFill>
                <a:latin typeface="Calibri"/>
              </a:rPr>
              <a:t>找到 Skills 資料夾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240280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50" b="0" i="1">
                <a:solidFill>
                  <a:srgbClr val="778899"/>
                </a:solidFill>
                <a:latin typeface="Calibri"/>
              </a:rPr>
              <a:t>%APPDATA%\Claude\...\skills\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017520"/>
            <a:ext cx="365760" cy="36576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94360" y="3017520"/>
            <a:ext cx="365760" cy="36576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300" b="1" i="0">
                <a:solidFill>
                  <a:srgbClr val="14213D"/>
                </a:solidFill>
                <a:latin typeface="Calibri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017520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1" i="0">
                <a:solidFill>
                  <a:srgbClr val="14213D"/>
                </a:solidFill>
                <a:latin typeface="Calibri"/>
              </a:rPr>
              <a:t>建立 slot-report/ 子目錄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337560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50" b="0" i="1">
                <a:solidFill>
                  <a:srgbClr val="778899"/>
                </a:solidFill>
                <a:latin typeface="Calibri"/>
              </a:rPr>
              <a:t>在 skills/ 內新增 slot-report 資料夾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114800"/>
            <a:ext cx="365760" cy="36576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" y="4114800"/>
            <a:ext cx="365760" cy="36576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300" b="1" i="0">
                <a:solidFill>
                  <a:srgbClr val="14213D"/>
                </a:solidFill>
                <a:latin typeface="Calibri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114800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1" i="0">
                <a:solidFill>
                  <a:srgbClr val="14213D"/>
                </a:solidFill>
                <a:latin typeface="Calibri"/>
              </a:rPr>
              <a:t>複製 claude/Skill.md 內容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434840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50" b="0" i="1">
                <a:solidFill>
                  <a:srgbClr val="778899"/>
                </a:solidFill>
                <a:latin typeface="Calibri"/>
              </a:rPr>
              <a:t>貼入 slot-report/SKILL.md 並儲存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212079"/>
            <a:ext cx="365760" cy="36576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5212079"/>
            <a:ext cx="365760" cy="36576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300" b="1" i="0">
                <a:solidFill>
                  <a:srgbClr val="14213D"/>
                </a:solidFill>
                <a:latin typeface="Calibri"/>
              </a:rPr>
              <a:t>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212079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1" i="0">
                <a:solidFill>
                  <a:srgbClr val="14213D"/>
                </a:solidFill>
                <a:latin typeface="Calibri"/>
              </a:rPr>
              <a:t>重新啟動 Claude Code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532119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50" b="0" i="1">
                <a:solidFill>
                  <a:srgbClr val="778899"/>
                </a:solidFill>
                <a:latin typeface="Calibri"/>
              </a:rPr>
              <a:t>Skill 即可在對話中使用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1298448"/>
            <a:ext cx="5559552" cy="5285232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172200" y="1298448"/>
            <a:ext cx="5559552" cy="475488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373368" y="1353312"/>
            <a:ext cx="5120640" cy="38404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呼叫 Skill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3368" y="1901952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1" i="0">
                <a:solidFill>
                  <a:srgbClr val="14213D"/>
                </a:solidFill>
                <a:latin typeface="Calibri"/>
              </a:rPr>
              <a:t>在 Claude Code 輸入：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2286000"/>
            <a:ext cx="5212080" cy="502920"/>
          </a:xfrm>
          <a:prstGeom prst="rect">
            <a:avLst/>
          </a:prstGeom>
          <a:solidFill>
            <a:srgbClr val="E8F4FD"/>
          </a:solidFill>
          <a:ln w="6350">
            <a:solidFill>
              <a:srgbClr val="BBD6F2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510528" y="2350008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950" b="0" i="0">
                <a:solidFill>
                  <a:srgbClr val="0E3A6E"/>
                </a:solidFill>
                <a:latin typeface="Consolas"/>
              </a:rPr>
              <a:t>幫我分析 project/output/GameName 這款遊戲，生成 report.html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3368" y="29718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1" i="0">
                <a:solidFill>
                  <a:srgbClr val="14213D"/>
                </a:solidFill>
                <a:latin typeface="Calibri"/>
              </a:rPr>
              <a:t>報告三大段落：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401568"/>
            <a:ext cx="402336" cy="402336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400800" y="3401568"/>
            <a:ext cx="402336" cy="402336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401568"/>
            <a:ext cx="4553712" cy="27432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1" i="0">
                <a:solidFill>
                  <a:srgbClr val="14213D"/>
                </a:solidFill>
                <a:latin typeface="Calibri"/>
              </a:rPr>
              <a:t>符號賠率表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3694176"/>
            <a:ext cx="4553712" cy="34747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  <a:latin typeface="Calibri"/>
              </a:rPr>
              <a:t>特殊符號（Scatter/Wild）、主力符號、低值符號，各附圖片與賠率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389120"/>
            <a:ext cx="402336" cy="40233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00800" y="4389120"/>
            <a:ext cx="402336" cy="40233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4389120"/>
            <a:ext cx="4553712" cy="27432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1" i="0">
                <a:solidFill>
                  <a:srgbClr val="14213D"/>
                </a:solidFill>
                <a:latin typeface="Calibri"/>
              </a:rPr>
              <a:t>玩法機制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4681728"/>
            <a:ext cx="4553712" cy="34747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  <a:latin typeface="Calibri"/>
              </a:rPr>
              <a:t>4–6 張機制卡，說明觸發條件、特效規則、連鎖機制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376672"/>
            <a:ext cx="402336" cy="40233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400800" y="5376672"/>
            <a:ext cx="402336" cy="40233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5376672"/>
            <a:ext cx="4553712" cy="27432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1" i="0">
                <a:solidFill>
                  <a:srgbClr val="14213D"/>
                </a:solidFill>
                <a:latin typeface="Calibri"/>
              </a:rPr>
              <a:t>遊戲流程圖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5669280"/>
            <a:ext cx="4553712" cy="34747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  <a:latin typeface="Calibri"/>
              </a:rPr>
              <a:t>主遊戲 + 免費旋轉雙列橫向流程，各節點附截圖縮圖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1097280"/>
            <a:ext cx="12188952" cy="50292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1274552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Figma Board 匯入方式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85800"/>
            <a:ext cx="11274552" cy="36576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0" i="0">
                <a:solidFill>
                  <a:srgbClr val="FCA311"/>
                </a:solidFill>
                <a:latin typeface="Calibri"/>
              </a:rPr>
              <a:t>Importing to Figma Desktop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68712" y="109728"/>
            <a:ext cx="1737360" cy="347472"/>
          </a:xfrm>
          <a:prstGeom prst="rect">
            <a:avLst/>
          </a:prstGeom>
          <a:solidFill>
            <a:srgbClr val="E8F4FD"/>
          </a:solidFill>
          <a:ln w="12700">
            <a:solidFill>
              <a:srgbClr val="BBD6F2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287000" y="128016"/>
            <a:ext cx="1700784" cy="31089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900" b="0" i="0">
                <a:solidFill>
                  <a:srgbClr val="1A73C8"/>
                </a:solidFill>
                <a:latin typeface="Calibri"/>
              </a:rPr>
              <a:t>4.4  Figma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475488" cy="475488"/>
          </a:xfrm>
          <a:prstGeom prst="rect">
            <a:avLst/>
          </a:prstGeom>
          <a:solidFill>
            <a:srgbClr val="F2481F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1371600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500" b="1" i="0">
                <a:solidFill>
                  <a:srgbClr val="14213D"/>
                </a:solidFill>
                <a:latin typeface="Calibri"/>
              </a:rPr>
              <a:t>執行 Figma Export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1801368"/>
            <a:ext cx="10515600" cy="329184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Calibri"/>
              </a:rPr>
              <a:t>在專案根目錄執行以下指令，自動生成 figma_export/ 資料夾與 manifest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2185415"/>
            <a:ext cx="7315200" cy="438912"/>
          </a:xfrm>
          <a:prstGeom prst="rect">
            <a:avLst/>
          </a:prstGeom>
          <a:solidFill>
            <a:srgbClr val="E8F4FD"/>
          </a:solidFill>
          <a:ln w="6350">
            <a:solidFill>
              <a:srgbClr val="BBD6F2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43584" y="2249423"/>
            <a:ext cx="6986016" cy="31089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00" b="0" i="0">
                <a:solidFill>
                  <a:srgbClr val="0E3A6E"/>
                </a:solidFill>
                <a:latin typeface="Consolas"/>
              </a:rPr>
              <a:t>.\run_figma_export.ps1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624327"/>
            <a:ext cx="11274552" cy="16459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7200" y="2834639"/>
            <a:ext cx="475488" cy="475488"/>
          </a:xfrm>
          <a:prstGeom prst="rect">
            <a:avLst/>
          </a:prstGeom>
          <a:solidFill>
            <a:srgbClr val="F2481F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834639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500" b="1" i="0">
                <a:solidFill>
                  <a:srgbClr val="14213D"/>
                </a:solidFill>
                <a:latin typeface="Calibri"/>
              </a:rPr>
              <a:t>匯入 Plugin Manifest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264408"/>
            <a:ext cx="10515600" cy="329184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Calibri"/>
              </a:rPr>
              <a:t>開啟 Figma Desktop → Plugins &gt; Development &gt; Import plugin from manifest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3648456"/>
            <a:ext cx="7315200" cy="438912"/>
          </a:xfrm>
          <a:prstGeom prst="rect">
            <a:avLst/>
          </a:prstGeom>
          <a:solidFill>
            <a:srgbClr val="E8F4FD"/>
          </a:solidFill>
          <a:ln w="6350">
            <a:solidFill>
              <a:srgbClr val="BBD6F2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43584" y="3712463"/>
            <a:ext cx="6986016" cy="31089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00" b="0" i="0">
                <a:solidFill>
                  <a:srgbClr val="0E3A6E"/>
                </a:solidFill>
                <a:latin typeface="Consolas"/>
              </a:rPr>
              <a:t>figma_tools\figma_plugin\manifest.json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087368"/>
            <a:ext cx="11274552" cy="16459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200" y="4297680"/>
            <a:ext cx="475488" cy="475488"/>
          </a:xfrm>
          <a:prstGeom prst="rect">
            <a:avLst/>
          </a:prstGeom>
          <a:solidFill>
            <a:srgbClr val="F2481F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4297680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500" b="1" i="0">
                <a:solidFill>
                  <a:srgbClr val="14213D"/>
                </a:solidFill>
                <a:latin typeface="Calibri"/>
              </a:rPr>
              <a:t>執行 Slot Research Board Importer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" y="4727448"/>
            <a:ext cx="10515600" cy="329184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Calibri"/>
              </a:rPr>
              <a:t>在 Figma 中執行 Plugin，選擇 figma_export/ 資料夾路徑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074920"/>
            <a:ext cx="11274552" cy="16459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7200" y="5285232"/>
            <a:ext cx="475488" cy="475488"/>
          </a:xfrm>
          <a:prstGeom prst="rect">
            <a:avLst/>
          </a:prstGeom>
          <a:solidFill>
            <a:srgbClr val="F2481F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5285232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500" b="1" i="0">
                <a:solidFill>
                  <a:srgbClr val="14213D"/>
                </a:solidFill>
                <a:latin typeface="Calibri"/>
              </a:rPr>
              <a:t>完成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5715000"/>
            <a:ext cx="10515600" cy="329184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Calibri"/>
              </a:rPr>
              <a:t>Plugin 自動建立分類截圖板，依 Loading / Basegame / Feature / BigWin 等分組排列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1097280"/>
            <a:ext cx="12188952" cy="50292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1274552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備份至 Fileserver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85800"/>
            <a:ext cx="11274552" cy="36576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0" i="0">
                <a:solidFill>
                  <a:srgbClr val="FCA311"/>
                </a:solidFill>
                <a:latin typeface="Calibri"/>
              </a:rPr>
              <a:t>Archive to Fileserver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68712" y="109728"/>
            <a:ext cx="1737360" cy="347472"/>
          </a:xfrm>
          <a:prstGeom prst="rect">
            <a:avLst/>
          </a:prstGeom>
          <a:solidFill>
            <a:srgbClr val="E8F4FD"/>
          </a:solidFill>
          <a:ln w="12700">
            <a:solidFill>
              <a:srgbClr val="BBD6F2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287000" y="128016"/>
            <a:ext cx="1700784" cy="31089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900" b="0" i="0">
                <a:solidFill>
                  <a:srgbClr val="1A73C8"/>
                </a:solidFill>
                <a:latin typeface="Calibri"/>
              </a:rPr>
              <a:t>4.5  備份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400" b="1" i="0">
                <a:solidFill>
                  <a:srgbClr val="14213D"/>
                </a:solidFill>
                <a:latin typeface="Calibri"/>
              </a:rPr>
              <a:t>執行備份腳本：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83080"/>
            <a:ext cx="6858000" cy="438912"/>
          </a:xfrm>
          <a:prstGeom prst="rect">
            <a:avLst/>
          </a:prstGeom>
          <a:solidFill>
            <a:srgbClr val="E8F4FD"/>
          </a:solidFill>
          <a:ln w="6350">
            <a:solidFill>
              <a:srgbClr val="BBD6F2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1792" y="1847088"/>
            <a:ext cx="6528816" cy="310896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000" b="0" i="0">
                <a:solidFill>
                  <a:srgbClr val="0E3A6E"/>
                </a:solidFill>
                <a:latin typeface="Consolas"/>
              </a:rPr>
              <a:t>.\archive_to_fileserver.ps1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5059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400" b="1" i="0">
                <a:solidFill>
                  <a:srgbClr val="14213D"/>
                </a:solidFill>
                <a:latin typeface="Calibri"/>
              </a:rPr>
              <a:t>備份目標結構  ─  AI_survey / GameName 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39" y="2971800"/>
            <a:ext cx="2148840" cy="530352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20039" y="2971800"/>
            <a:ext cx="2148840" cy="530352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01_report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39" y="3502152"/>
            <a:ext cx="2148840" cy="23774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29767" y="3630168"/>
            <a:ext cx="1929384" cy="20116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Calibri"/>
              </a:rPr>
              <a:t>HTML 競品分析報告 + assets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0048" y="2971800"/>
            <a:ext cx="2148840" cy="530352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670048" y="2971800"/>
            <a:ext cx="2148840" cy="530352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02_classified_images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70048" y="3502152"/>
            <a:ext cx="2148840" cy="23774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779776" y="3630168"/>
            <a:ext cx="1929384" cy="20116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Calibri"/>
              </a:rPr>
              <a:t>分類截圖（Basegame / Feature 等）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0056" y="2971800"/>
            <a:ext cx="2148840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020056" y="2971800"/>
            <a:ext cx="2148840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03_figma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0056" y="3502152"/>
            <a:ext cx="2148840" cy="23774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29784" y="3630168"/>
            <a:ext cx="1929384" cy="20116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Calibri"/>
              </a:rPr>
              <a:t>Figma 匯入包（manifest + images）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0064" y="2971800"/>
            <a:ext cx="2148840" cy="530352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70064" y="2971800"/>
            <a:ext cx="2148840" cy="530352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04_logs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70064" y="3502152"/>
            <a:ext cx="2148840" cy="23774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479792" y="3630168"/>
            <a:ext cx="1929384" cy="20116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Calibri"/>
              </a:rPr>
              <a:t>執行紀錄與低信心值截圖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20072" y="2971800"/>
            <a:ext cx="2148840" cy="530352"/>
          </a:xfrm>
          <a:prstGeom prst="rect">
            <a:avLst/>
          </a:prstGeom>
          <a:solidFill>
            <a:srgbClr val="77889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720072" y="2971800"/>
            <a:ext cx="2148840" cy="530352"/>
          </a:xfrm>
          <a:prstGeom prst="rect">
            <a:avLst/>
          </a:prstGeom>
          <a:solidFill>
            <a:srgbClr val="778899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video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20072" y="3502152"/>
            <a:ext cx="2148840" cy="23774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829800" y="3630168"/>
            <a:ext cx="1929384" cy="20116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Calibri"/>
              </a:rPr>
              <a:t>原始影片（選擇性備份）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172200"/>
            <a:ext cx="11274552" cy="411480"/>
          </a:xfrm>
          <a:prstGeom prst="rect">
            <a:avLst/>
          </a:prstGeom>
          <a:solidFill>
            <a:srgbClr val="FFEFCC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58368" y="6217920"/>
            <a:ext cx="10872216" cy="34747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950" b="0" i="0">
                <a:solidFill>
                  <a:srgbClr val="805000"/>
                </a:solidFill>
                <a:latin typeface="Calibri"/>
              </a:rPr>
              <a:t>⚠  low_score 截圖請先人工確認分類正確性，再決定備份至 Help 或 Other；HTML report 與 assets 保持原始資料夾結構以避免路徑失效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47472" y="6217920"/>
            <a:ext cx="11841480" cy="64008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GitHub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2926080" cy="6858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058400" cy="475488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2000" b="0" i="0">
                <a:solidFill>
                  <a:srgbClr val="FCA311"/>
                </a:solidFill>
                <a:latin typeface="Calibri"/>
              </a:rPr>
              <a:t>原始碼與技術文件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9601200" cy="594360"/>
          </a:xfrm>
          <a:prstGeom prst="rect">
            <a:avLst/>
          </a:prstGeom>
          <a:solidFill>
            <a:srgbClr val="0A183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9235440" cy="45720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500" b="0" i="0">
                <a:solidFill>
                  <a:srgbClr val="79C0FF"/>
                </a:solidFill>
                <a:latin typeface="Consolas"/>
              </a:rPr>
              <a:t>https://github.com/Ashley860511/slot-classifier.git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49039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300" b="1" i="0">
                <a:solidFill>
                  <a:srgbClr val="FCA311"/>
                </a:solidFill>
                <a:latin typeface="Calibri"/>
              </a:rPr>
              <a:t>專案內容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54864" cy="22860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78992" y="4206240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app/               主程式：分類器、OCR、ROI 偵測、Symbol Table 提取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72000"/>
            <a:ext cx="54864" cy="22860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78992" y="4572000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claude/            slot-report Skill 安裝指南與完整 SKILL.md 範本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937759"/>
            <a:ext cx="54864" cy="22860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78992" y="4937759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figma_tools/       Figma plugin（manifest + code.js）與 export 腳本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303520"/>
            <a:ext cx="54864" cy="22860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78992" y="5303520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docs/              HTML 技術文件（使用教學、環境安裝說明）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69279"/>
            <a:ext cx="54864" cy="22860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78992" y="5669279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setup_venv.ps1  /  run_classifier.ps1  /  run_figma_export.ps1  /  archive_to_fileserver.ps1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1097280"/>
            <a:ext cx="12188952" cy="50292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109728"/>
            <a:ext cx="11274552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後續優化方向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85800"/>
            <a:ext cx="11274552" cy="36576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200" b="0" i="0">
                <a:solidFill>
                  <a:srgbClr val="FCA311"/>
                </a:solidFill>
                <a:latin typeface="Calibri"/>
              </a:rPr>
              <a:t>Future Improvements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5394960" cy="24231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394960" cy="530352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94360" y="1435608"/>
            <a:ext cx="38404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1435608"/>
            <a:ext cx="38404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600" b="0" i="0">
                <a:solidFill>
                  <a:srgbClr val="1A73C8"/>
                </a:solidFill>
                <a:latin typeface="Calibri"/>
              </a:rPr>
              <a:t>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444752"/>
            <a:ext cx="4590288" cy="36576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Feature 細分偵測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11680"/>
            <a:ext cx="4992624" cy="160020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50" b="0" i="0">
                <a:solidFill>
                  <a:srgbClr val="2D2D2D"/>
                </a:solidFill>
                <a:latin typeface="Calibri"/>
              </a:rPr>
              <a:t>偵測 Feature active / subtype，自動辨識 Free Spins、Bonus、Jackpot 等子類型，提升分類粒度。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6792" y="1353312"/>
            <a:ext cx="5394960" cy="24231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36792" y="1353312"/>
            <a:ext cx="5394960" cy="5303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73952" y="1435608"/>
            <a:ext cx="38404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73952" y="1435608"/>
            <a:ext cx="38404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600" b="0" i="0">
                <a:solidFill>
                  <a:srgbClr val="16A34A"/>
                </a:solidFill>
                <a:latin typeface="Calibri"/>
              </a:rPr>
              <a:t>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1444752"/>
            <a:ext cx="4590288" cy="36576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大型 Bonus Game 支援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011680"/>
            <a:ext cx="4992624" cy="160020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50" b="0" i="0">
                <a:solidFill>
                  <a:srgbClr val="2D2D2D"/>
                </a:solidFill>
                <a:latin typeface="Calibri"/>
              </a:rPr>
              <a:t>針對轉場式 Bonus Game（主介面切換）建立獨立偵測模組，改善主介面切換場景的分類準確率。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069079"/>
            <a:ext cx="5394960" cy="24231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57200" y="4069079"/>
            <a:ext cx="5394960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" y="4151375"/>
            <a:ext cx="38404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94360" y="4151375"/>
            <a:ext cx="38404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600" b="0" i="0">
                <a:solidFill>
                  <a:srgbClr val="7C3AED"/>
                </a:solidFill>
                <a:latin typeface="Calibri"/>
              </a:rPr>
              <a:t>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4160519"/>
            <a:ext cx="4590288" cy="36576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OCR 辨識率提升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727447"/>
            <a:ext cx="4992624" cy="160020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50" b="0" i="0">
                <a:solidFill>
                  <a:srgbClr val="2D2D2D"/>
                </a:solidFill>
                <a:latin typeface="Calibri"/>
              </a:rPr>
              <a:t>改善中英文混合介面的文字辨識率，優化遊戲標題、數值與符號文字的提取品質。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4069079"/>
            <a:ext cx="5394960" cy="24231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336792" y="4069079"/>
            <a:ext cx="5394960" cy="530352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73952" y="4151375"/>
            <a:ext cx="38404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73952" y="4151375"/>
            <a:ext cx="38404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50000" rIns="50000" tIns="50000" bIns="50000" anchor="ctr">
            <a:spAutoFit/>
          </a:bodyPr>
          <a:lstStyle/>
          <a:p>
            <a:pPr algn="ctr"/>
            <a:r>
              <a:rPr sz="1600" b="0" i="0">
                <a:solidFill>
                  <a:srgbClr val="E86A17"/>
                </a:solidFill>
                <a:latin typeface="Calibri"/>
              </a:rPr>
              <a:t>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4160519"/>
            <a:ext cx="4590288" cy="36576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資料管理強化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727447"/>
            <a:ext cx="4992624" cy="1600200"/>
          </a:xfrm>
          <a:prstGeom prst="rect">
            <a:avLst/>
          </a:prstGeom>
          <a:noFill/>
          <a:ln>
            <a:noFill/>
          </a:ln>
        </p:spPr>
        <p:txBody>
          <a:bodyPr wrap="square" lIns="50000" rIns="50000" tIns="50000" bIns="50000">
            <a:spAutoFit/>
          </a:bodyPr>
          <a:lstStyle/>
          <a:p>
            <a:pPr algn="l"/>
            <a:r>
              <a:rPr sz="1150" b="0" i="0">
                <a:solidFill>
                  <a:srgbClr val="2D2D2D"/>
                </a:solidFill>
                <a:latin typeface="Calibri"/>
              </a:rPr>
              <a:t>建立競品遊戲資料庫索引、Fileserver manifest、版本控管，以及定期自動比對與更新機制。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